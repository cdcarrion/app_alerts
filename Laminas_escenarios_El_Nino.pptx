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micro tenemos 449.2 millones expuestos, con una pérdida incurrida actual de 44.0 millones, el 9.8% de la cartera expuesta. Con la metodología del BCE, la pérdida sube a 56.7 millones en el escenario moderado, 69.6 en el severo y 91.2 en el crítico. Es decir, 12.7, 25.6 y 47.2 millones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PYMES tenemos 334.0 millones expuestos, con una pérdida incurrida actual de 22.0 millones, el 6.6% de la cartera expuesta. Con la metodología del BCE, la pérdida sube a 27.4 millones en el escenario moderado, 32.8 en el severo y 42.1 en el crítico. Es decir, 5.4, 10.8 y 20.0 millones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Empresas tenemos 746.6 millones expuestos, con una pérdida incurrida actual de 13.4 millones, el 1.8% de la cartera expuesta. Con la metodología del BCE, la pérdida sube a 25.5 millones en el escenario moderado, 37.5 en el severo y 58.2 en el crítico. Es decir, 12.1, 24.1 y 44.8 millones adicionales. Como referencia, con el factor proporcional del BCE Empresas llega a 2.9%, 8.2 millones adicionales.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ENARI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60175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MICROCRÉDITO - PÉRDIDA INCURRIDA POR EL NIÑO</a:t>
            </a:r>
            <a:endParaRPr lang="en-US" sz="2600" dirty="0"/>
          </a:p>
        </p:txBody>
      </p:sp>
      <p:sp>
        <p:nvSpPr>
          <p:cNvPr id="3" name="CARTERA EXPUESTA AL NIÑO"/>
          <p:cNvSpPr/>
          <p:nvPr/>
        </p:nvSpPr>
        <p:spPr>
          <a:xfrm>
            <a:off x="161528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5244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EXPUESTA AL NIÑO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$449.2MM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(19% de la cartera Micro)</a:t>
            </a:r>
            <a:endParaRPr lang="en-US" sz="1500" dirty="0"/>
          </a:p>
        </p:txBody>
      </p:sp>
      <p:sp>
        <p:nvSpPr>
          <p:cNvPr id="5" name="PÉRDIDA INCURRIDA ACTUAL"/>
          <p:cNvSpPr/>
          <p:nvPr/>
        </p:nvSpPr>
        <p:spPr>
          <a:xfrm>
            <a:off x="637016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0732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 ACTUAL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$44.0MM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(equivalente al 9.8% de la cartera expuesta)</a:t>
            </a:r>
            <a:endParaRPr lang="en-US" sz="1500" dirty="0"/>
          </a:p>
        </p:txBody>
      </p:sp>
      <p:sp>
        <p:nvSpPr>
          <p:cNvPr id="7" name="ESCENARIO MODERADO"/>
          <p:cNvSpPr/>
          <p:nvPr/>
        </p:nvSpPr>
        <p:spPr>
          <a:xfrm>
            <a:off x="454000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1160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MODERADO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Niño 1997-98 · ΔPD +4.04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$56.7MM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(12.6%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+12.7MM adicionales</a:t>
            </a:r>
            <a:endParaRPr lang="en-US" sz="1500" dirty="0"/>
          </a:p>
        </p:txBody>
      </p:sp>
      <p:sp>
        <p:nvSpPr>
          <p:cNvPr id="9" name="ESCENARIO SEVERO"/>
          <p:cNvSpPr/>
          <p:nvPr/>
        </p:nvSpPr>
        <p:spPr>
          <a:xfrm>
            <a:off x="4312768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9928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SEVERO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pandemia · ΔPD +8.06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$69.6MM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(15.5%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+25.6MM adicionales</a:t>
            </a:r>
            <a:endParaRPr lang="en-US" sz="1500" dirty="0"/>
          </a:p>
        </p:txBody>
      </p:sp>
      <p:sp>
        <p:nvSpPr>
          <p:cNvPr id="11" name="ESCENARIO CRÍTICO"/>
          <p:cNvSpPr/>
          <p:nvPr/>
        </p:nvSpPr>
        <p:spPr>
          <a:xfrm>
            <a:off x="8171536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8696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CRÍTICO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cartera como zona alta · ΔPD +15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$91.2MM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(20.3%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+47.2MM adicionales</a:t>
            </a:r>
            <a:endParaRPr lang="en-US" sz="1500" dirty="0"/>
          </a:p>
        </p:txBody>
      </p:sp>
      <p:sp>
        <p:nvSpPr>
          <p:cNvPr id="13" name="Franja impacto"/>
          <p:cNvSpPr/>
          <p:nvPr/>
        </p:nvSpPr>
        <p:spPr>
          <a:xfrm>
            <a:off x="365760" y="5074920"/>
            <a:ext cx="11460175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adicional por El Niño en micro: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+12.7MM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moderado,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+25.6MM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severo y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+47.2MM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crítico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58978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*Metodología BCE (Apuntes de Economía No. 75, 2024): Pérdida El Niño = Pérdida actual + Saldo expuesto × ΔPD × LGD. ΔPD ponderado por zona de riesgo (págs. 23 y 39); LGD 70% (pág. 37).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PYMES - PÉRDIDA INCURRIDA POR EL NIÑO</a:t>
            </a:r>
            <a:endParaRPr lang="en-US" sz="2600" dirty="0"/>
          </a:p>
        </p:txBody>
      </p:sp>
      <p:sp>
        <p:nvSpPr>
          <p:cNvPr id="3" name="CARTERA EXPUESTA AL NIÑO"/>
          <p:cNvSpPr/>
          <p:nvPr/>
        </p:nvSpPr>
        <p:spPr>
          <a:xfrm>
            <a:off x="161528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5244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EXPUESTA AL NIÑO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$334.0MM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(20% de la cartera PYME)</a:t>
            </a:r>
            <a:endParaRPr lang="en-US" sz="1500" dirty="0"/>
          </a:p>
        </p:txBody>
      </p:sp>
      <p:sp>
        <p:nvSpPr>
          <p:cNvPr id="5" name="PÉRDIDA INCURRIDA ACTUAL"/>
          <p:cNvSpPr/>
          <p:nvPr/>
        </p:nvSpPr>
        <p:spPr>
          <a:xfrm>
            <a:off x="637016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0732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 ACTUAL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$22.0MM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(equivalente al 6.6% de la cartera expuesta)</a:t>
            </a:r>
            <a:endParaRPr lang="en-US" sz="1500" dirty="0"/>
          </a:p>
        </p:txBody>
      </p:sp>
      <p:sp>
        <p:nvSpPr>
          <p:cNvPr id="7" name="ESCENARIO MODERADO"/>
          <p:cNvSpPr/>
          <p:nvPr/>
        </p:nvSpPr>
        <p:spPr>
          <a:xfrm>
            <a:off x="454000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1160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MODERADO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Niño 1997-98 · ΔPD +4.04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$27.4MM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(8.2%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+5.4MM adicionales</a:t>
            </a:r>
            <a:endParaRPr lang="en-US" sz="1500" dirty="0"/>
          </a:p>
        </p:txBody>
      </p:sp>
      <p:sp>
        <p:nvSpPr>
          <p:cNvPr id="9" name="ESCENARIO SEVERO"/>
          <p:cNvSpPr/>
          <p:nvPr/>
        </p:nvSpPr>
        <p:spPr>
          <a:xfrm>
            <a:off x="4312768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9928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SEVERO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pandemia · ΔPD +8.06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$32.8MM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(9.8%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+10.8MM adicionales</a:t>
            </a:r>
            <a:endParaRPr lang="en-US" sz="1500" dirty="0"/>
          </a:p>
        </p:txBody>
      </p:sp>
      <p:sp>
        <p:nvSpPr>
          <p:cNvPr id="11" name="ESCENARIO CRÍTICO"/>
          <p:cNvSpPr/>
          <p:nvPr/>
        </p:nvSpPr>
        <p:spPr>
          <a:xfrm>
            <a:off x="8171536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8696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CRÍTICO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cartera como zona alta · ΔPD +15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$42.1MM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(12.6%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+20.0MM adicionales</a:t>
            </a:r>
            <a:endParaRPr lang="en-US" sz="1500" dirty="0"/>
          </a:p>
        </p:txBody>
      </p:sp>
      <p:sp>
        <p:nvSpPr>
          <p:cNvPr id="13" name="Franja impacto"/>
          <p:cNvSpPr/>
          <p:nvPr/>
        </p:nvSpPr>
        <p:spPr>
          <a:xfrm>
            <a:off x="365760" y="5074920"/>
            <a:ext cx="11460175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adicional por El Niño en PYMES: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moderado,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+10.8MM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severo y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+20.0MM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crítico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58978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*Metodología BCE (Apuntes de Economía No. 75, 2024): Pérdida El Niño = Pérdida actual + Saldo expuesto × ΔPD × LGD. ΔPD ponderado por zona de riesgo (págs. 23 y 39); LGD 40% (pág. 37).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94360" y="32004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- PÉRDIDA INCURRIDA POR EL NIÑO</a:t>
            </a:r>
            <a:endParaRPr lang="en-US" sz="2600" dirty="0"/>
          </a:p>
        </p:txBody>
      </p:sp>
      <p:sp>
        <p:nvSpPr>
          <p:cNvPr id="3" name="CARTERA EXPUESTA AL NIÑO"/>
          <p:cNvSpPr/>
          <p:nvPr/>
        </p:nvSpPr>
        <p:spPr>
          <a:xfrm>
            <a:off x="161528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75244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EXPUESTA AL NIÑO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$746.6MM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(20% de la cartera Empresas)</a:t>
            </a:r>
            <a:endParaRPr lang="en-US" sz="1500" dirty="0"/>
          </a:p>
        </p:txBody>
      </p:sp>
      <p:sp>
        <p:nvSpPr>
          <p:cNvPr id="5" name="PÉRDIDA INCURRIDA ACTUAL"/>
          <p:cNvSpPr/>
          <p:nvPr/>
        </p:nvSpPr>
        <p:spPr>
          <a:xfrm>
            <a:off x="6370168" y="1417320"/>
            <a:ext cx="420624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07328" y="1490472"/>
            <a:ext cx="39319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 ACTUAL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$13.4MM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(equivalente al 1.8% de la cartera expuesta)</a:t>
            </a:r>
            <a:endParaRPr lang="en-US" sz="1500" dirty="0"/>
          </a:p>
        </p:txBody>
      </p:sp>
      <p:sp>
        <p:nvSpPr>
          <p:cNvPr id="7" name="ESCENARIO MODERADO"/>
          <p:cNvSpPr/>
          <p:nvPr/>
        </p:nvSpPr>
        <p:spPr>
          <a:xfrm>
            <a:off x="454000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1160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MODERADO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Niño 1997-98 · ΔPD +4.04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$25.5MM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(3.4%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+12.1MM adicionales</a:t>
            </a:r>
            <a:endParaRPr lang="en-US" sz="1500" dirty="0"/>
          </a:p>
        </p:txBody>
      </p:sp>
      <p:sp>
        <p:nvSpPr>
          <p:cNvPr id="9" name="ESCENARIO SEVERO"/>
          <p:cNvSpPr/>
          <p:nvPr/>
        </p:nvSpPr>
        <p:spPr>
          <a:xfrm>
            <a:off x="4312768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9928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SEVERO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pandemia · ΔPD +8.06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$37.5MM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(5.0%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+24.1MM adicionales</a:t>
            </a:r>
            <a:endParaRPr lang="en-US" sz="1500" dirty="0"/>
          </a:p>
        </p:txBody>
      </p:sp>
      <p:sp>
        <p:nvSpPr>
          <p:cNvPr id="11" name="ESCENARIO CRÍTICO"/>
          <p:cNvSpPr/>
          <p:nvPr/>
        </p:nvSpPr>
        <p:spPr>
          <a:xfrm>
            <a:off x="8171536" y="2926080"/>
            <a:ext cx="3566160" cy="1965960"/>
          </a:xfrm>
          <a:prstGeom prst="roundRect">
            <a:avLst>
              <a:gd name="adj" fmla="val 69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8696" y="2999232"/>
            <a:ext cx="329184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CRÍTICO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cartera como zona alta · ΔPD +15 pp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INCURRIDA</a:t>
            </a:r>
            <a:endParaRPr lang="en-US" sz="15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$58.2MM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(7.8% de la cartera expuesta)</a:t>
            </a:r>
            <a:endParaRPr lang="en-US" sz="1500" dirty="0"/>
          </a:p>
          <a:p>
            <a:pPr algn="ctr" indent="0" marL="0">
              <a:buNone/>
            </a:pPr>
            <a:r>
              <a:rPr lang="en-US" sz="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+44.8MM adicionales</a:t>
            </a:r>
            <a:endParaRPr lang="en-US" sz="1500" dirty="0"/>
          </a:p>
        </p:txBody>
      </p:sp>
      <p:sp>
        <p:nvSpPr>
          <p:cNvPr id="13" name="Franja impacto"/>
          <p:cNvSpPr/>
          <p:nvPr/>
        </p:nvSpPr>
        <p:spPr>
          <a:xfrm>
            <a:off x="365760" y="5074920"/>
            <a:ext cx="11460175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adicional por El Niño en Empresas: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+12.1MM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moderado,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+24.1MM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severo y 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+44.8MM</a:t>
            </a:r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crítico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58978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*Metodología BCE (Apuntes de Economía No. 75, 2024): Pérdida El Niño = Pérdida actual + Saldo expuesto × ΔPD × LGD. ΔPD ponderado por zona de riesgo (págs. 23 y 39); LGD 40% (pág. 37). Con el factor proporcional del BCE (Tabla 15), Empresas llega a 2.9% (+8.2MM).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minas El Nino">
  <a:themeElements>
    <a:clrScheme name="Laminas El Nino">
      <a:dk1>
        <a:srgbClr val="1A1A1A"/>
      </a:dk1>
      <a:lt1>
        <a:srgbClr val="FFFFFF"/>
      </a:lt1>
      <a:dk2>
        <a:srgbClr val="111111"/>
      </a:dk2>
      <a:lt2>
        <a:srgbClr val="F2F2F2"/>
      </a:lt2>
      <a:accent1>
        <a:srgbClr val="16195C"/>
      </a:accent1>
      <a:accent2>
        <a:srgbClr val="F5C518"/>
      </a:accent2>
      <a:accent3>
        <a:srgbClr val="1D3FA6"/>
      </a:accent3>
      <a:accent4>
        <a:srgbClr val="C0392B"/>
      </a:accent4>
      <a:accent5>
        <a:srgbClr val="595959"/>
      </a:accent5>
      <a:accent6>
        <a:srgbClr val="333333"/>
      </a:accent6>
      <a:hlink>
        <a:srgbClr val="1D3FA6"/>
      </a:hlink>
      <a:folHlink>
        <a:srgbClr val="595959"/>
      </a:folHlink>
    </a:clrScheme>
    <a:fontScheme name="Laminas El Ni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2026-10-07T14:25:21Z</dcterms:created>
  <dcterms:modified xsi:type="dcterms:W3CDTF">2026-10-07T14:25:21Z</dcterms:modified>
</cp:coreProperties>
</file>