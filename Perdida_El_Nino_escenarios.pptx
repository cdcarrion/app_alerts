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men" id="{aedafff3-102e-7af1-7124-2c04bb61298c}">
          <p14:sldIdLst>
            <p14:sldId id="256"/>
            <p14:sldId id="257"/>
          </p14:sldIdLst>
        </p14:section>
        <p14:section name="Contexto" id="{eae3ce7e-8fa7-ebe9-94c8-061d84204286}">
          <p14:sldIdLst>
            <p14:sldId id="258"/>
            <p14:sldId id="259"/>
          </p14:sldIdLst>
        </p14:section>
        <p14:section name="Metodología" id="{b95d5a14-3a53-908a-ac43-b2c0af65d9ee}">
          <p14:sldIdLst>
            <p14:sldId id="260"/>
            <p14:sldId id="261"/>
            <p14:sldId id="262"/>
            <p14:sldId id="263"/>
            <p14:sldId id="264"/>
            <p14:sldId id="265"/>
          </p14:sldIdLst>
        </p14:section>
        <p14:section name="Resultados" id="{5d471560-81f2-24c0-4923-64b0d19b828c}">
          <p14:sldIdLst>
            <p14:sldId id="266"/>
            <p14:sldId id="267"/>
            <p14:sldId id="268"/>
            <p14:sldId id="269"/>
            <p14:sldId id="270"/>
          </p14:sldIdLst>
        </p14:section>
        <p14:section name="Riesgos y próximos pasos" id="{25305bbd-e137-9d45-2df4-e314662cf5f0}">
          <p14:sldIdLst>
            <p14:sldId id="271"/>
            <p14:sldId id="272"/>
          </p14:sldIdLst>
        </p14:section>
        <p14:section name="Anexo" id="{b27b512b-fcbe-d504-b59a-315553b4c170}">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40"/>
                </a:solidFill>
                <a:latin typeface="+mn-lt"/>
              </a:defRPr>
            </a:pPr>
            <a:r>
              <a:rPr sz="1300" b="0" i="0" u="none" strike="noStrike">
                <a:solidFill>
                  <a:srgbClr val="1B2340"/>
                </a:solidFill>
                <a:latin typeface="+mn-lt"/>
              </a:rPr>
              <a:t>Saldo expuesto por segmento (USD MM)</a:t>
            </a:r>
          </a:p>
        </c:rich>
      </c:tx>
      <c:layout/>
      <c:overlay val="0"/>
    </c:title>
    <c:autoTitleDeleted val="0"/>
    <c:plotArea>
      <c:layout/>
      <c:barChart>
        <c:barDir val="col"/>
        <c:grouping val="clustered"/>
        <c:varyColors val="0"/>
        <c:ser>
          <c:idx val="0"/>
          <c:order val="0"/>
          <c:tx>
            <c:strRef>
              <c:f>Sheet1!$B$1</c:f>
              <c:strCache>
                <c:ptCount val="1"/>
                <c:pt idx="0">
                  <c:v>Saldo expuesto</c:v>
                </c:pt>
              </c:strCache>
            </c:strRef>
          </c:tx>
          <c:spPr>
            <a:solidFill>
              <a:srgbClr val="14285A"/>
            </a:solidFill>
            <a:effectLst/>
          </c:spPr>
          <c:invertIfNegative val="0"/>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cat>
            <c:multiLvlStrRef>
              <c:f>Sheet1!$A$2:$A$4</c:f>
              <c:multiLvlStrCache>
                <c:ptCount val="3"/>
                <c:lvl>
                  <c:pt idx="0">
                    <c:v>Microfinanzas</c:v>
                  </c:pt>
                  <c:pt idx="1">
                    <c:v>PYMES</c:v>
                  </c:pt>
                  <c:pt idx="2">
                    <c:v>Empresas</c:v>
                  </c:pt>
                </c:lvl>
              </c:multiLvlStrCache>
            </c:multiLvlStrRef>
          </c:cat>
          <c:val>
            <c:numRef>
              <c:f>Sheet1!$B$2:$B$4</c:f>
              <c:numCache>
                <c:formatCode>General</c:formatCode>
                <c:ptCount val="3"/>
                <c:pt idx="0">
                  <c:v>449.2</c:v>
                </c:pt>
                <c:pt idx="1">
                  <c:v>334</c:v>
                </c:pt>
                <c:pt idx="2">
                  <c:v>746.6</c:v>
                </c:pt>
              </c:numCache>
            </c:numRef>
          </c:val>
        </c:ser>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A5C"/>
                </a:solidFill>
                <a:latin typeface="+mn-lt"/>
              </a:defRPr>
            </a:pPr>
            <a:endParaRPr lang="en-US"/>
          </a:p>
        </c:txPr>
        <c:crossAx val="2094734552"/>
        <c:crosses val="autoZero"/>
        <c:auto val="1"/>
        <c:lblAlgn val="ctr"/>
        <c:noMultiLvlLbl val="1"/>
      </c:catAx>
      <c:valAx>
        <c:axId val="2094734552"/>
        <c:scaling>
          <c:orientation val="minMax"/>
          <c:max val="900"/>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40"/>
                </a:solidFill>
                <a:latin typeface="+mn-lt"/>
              </a:defRPr>
            </a:pPr>
            <a:r>
              <a:rPr sz="1300" b="0" i="0" u="none" strike="noStrike">
                <a:solidFill>
                  <a:srgbClr val="1B2340"/>
                </a:solidFill>
                <a:latin typeface="+mn-lt"/>
              </a:rPr>
              <a:t>Pérdida por segmento (USD MM)</a:t>
            </a:r>
          </a:p>
        </c:rich>
      </c:tx>
      <c:layout/>
      <c:overlay val="0"/>
    </c:title>
    <c:autoTitleDeleted val="0"/>
    <c:plotArea>
      <c:layout/>
      <c:barChart>
        <c:barDir val="col"/>
        <c:grouping val="clustered"/>
        <c:varyColors val="0"/>
        <c:ser>
          <c:idx val="0"/>
          <c:order val="0"/>
          <c:tx>
            <c:strRef>
              <c:f>Sheet1!$B$1</c:f>
              <c:strCache>
                <c:ptCount val="1"/>
                <c:pt idx="0">
                  <c:v>Pérdida actual</c:v>
                </c:pt>
              </c:strCache>
            </c:strRef>
          </c:tx>
          <c:spPr>
            <a:solidFill>
              <a:srgbClr val="9AA6B8"/>
            </a:solidFill>
            <a:effectLst/>
          </c:spPr>
          <c:invertIfNegative val="0"/>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cat>
            <c:multiLvlStrRef>
              <c:f>Sheet1!$A$2:$A$4</c:f>
              <c:multiLvlStrCache>
                <c:ptCount val="3"/>
                <c:lvl>
                  <c:pt idx="0">
                    <c:v>Microfinanzas</c:v>
                  </c:pt>
                  <c:pt idx="1">
                    <c:v>PYMES</c:v>
                  </c:pt>
                  <c:pt idx="2">
                    <c:v>Empresas</c:v>
                  </c:pt>
                </c:lvl>
              </c:multiLvlStrCache>
            </c:multiLvlStrRef>
          </c:cat>
          <c:val>
            <c:numRef>
              <c:f>Sheet1!$B$2:$B$4</c:f>
              <c:numCache>
                <c:formatCode>General</c:formatCode>
                <c:ptCount val="3"/>
                <c:pt idx="0">
                  <c:v>44</c:v>
                </c:pt>
                <c:pt idx="1">
                  <c:v>22</c:v>
                </c:pt>
                <c:pt idx="2">
                  <c:v>13.4</c:v>
                </c:pt>
              </c:numCache>
            </c:numRef>
          </c:val>
        </c:ser>
        <c:ser>
          <c:idx val="1"/>
          <c:order val="1"/>
          <c:tx>
            <c:strRef>
              <c:f>Sheet1!$C$1</c:f>
              <c:strCache>
                <c:ptCount val="1"/>
                <c:pt idx="0">
                  <c:v>Pérdida El Niño</c:v>
                </c:pt>
              </c:strCache>
            </c:strRef>
          </c:tx>
          <c:spPr>
            <a:solidFill>
              <a:srgbClr val="14285A"/>
            </a:solidFill>
            <a:effectLst/>
          </c:spPr>
          <c:invertIfNegative val="0"/>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cat>
            <c:multiLvlStrRef>
              <c:f>Sheet1!$A$2:$A$4</c:f>
              <c:multiLvlStrCache>
                <c:ptCount val="3"/>
                <c:lvl>
                  <c:pt idx="0">
                    <c:v>Microfinanzas</c:v>
                  </c:pt>
                  <c:pt idx="1">
                    <c:v>PYMES</c:v>
                  </c:pt>
                  <c:pt idx="2">
                    <c:v>Empresas</c:v>
                  </c:pt>
                </c:lvl>
              </c:multiLvlStrCache>
            </c:multiLvlStrRef>
          </c:cat>
          <c:val>
            <c:numRef>
              <c:f>Sheet1!$C$2:$C$4</c:f>
              <c:numCache>
                <c:formatCode>General</c:formatCode>
                <c:ptCount val="3"/>
                <c:pt idx="0">
                  <c:v>69.6</c:v>
                </c:pt>
                <c:pt idx="1">
                  <c:v>27.4</c:v>
                </c:pt>
                <c:pt idx="2">
                  <c:v>21.6</c:v>
                </c:pt>
              </c:numCache>
            </c:numRef>
          </c:val>
        </c:ser>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A5C"/>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40"/>
                </a:solidFill>
                <a:latin typeface="+mn-lt"/>
              </a:defRPr>
            </a:pPr>
            <a:r>
              <a:rPr sz="1300" b="0" i="0" u="none" strike="noStrike">
                <a:solidFill>
                  <a:srgbClr val="1B2340"/>
                </a:solidFill>
                <a:latin typeface="+mn-lt"/>
              </a:rPr>
              <a:t>Pérdida adicional total (USD MM)</a:t>
            </a:r>
          </a:p>
        </c:rich>
      </c:tx>
      <c:layout/>
      <c:overlay val="0"/>
    </c:title>
    <c:autoTitleDeleted val="0"/>
    <c:plotArea>
      <c:layout/>
      <c:barChart>
        <c:barDir val="col"/>
        <c:grouping val="stacked"/>
        <c:varyColors val="0"/>
        <c:ser>
          <c:idx val="0"/>
          <c:order val="0"/>
          <c:tx>
            <c:strRef>
              <c:f>Sheet1!$B$1</c:f>
              <c:strCache>
                <c:ptCount val="1"/>
                <c:pt idx="0">
                  <c:v>Escenarios de referencia</c:v>
                </c:pt>
              </c:strCache>
            </c:strRef>
          </c:tx>
          <c:spPr>
            <a:solidFill>
              <a:srgbClr val="14285A"/>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Moderado BCE</c:v>
                  </c:pt>
                  <c:pt idx="1">
                    <c:v>Asignado</c:v>
                  </c:pt>
                  <c:pt idx="2">
                    <c:v>Severo BCE</c:v>
                  </c:pt>
                  <c:pt idx="3">
                    <c:v>Extremo</c:v>
                  </c:pt>
                </c:lvl>
              </c:multiLvlStrCache>
            </c:multiLvlStrRef>
          </c:cat>
          <c:val>
            <c:numRef>
              <c:f>Sheet1!$B$2:$B$5</c:f>
              <c:numCache>
                <c:formatCode>General</c:formatCode>
                <c:ptCount val="4"/>
                <c:pt idx="0">
                  <c:v>30.2</c:v>
                </c:pt>
                <c:pt idx="1">
                  <c:v>0</c:v>
                </c:pt>
                <c:pt idx="2">
                  <c:v>60.5</c:v>
                </c:pt>
                <c:pt idx="3">
                  <c:v>112</c:v>
                </c:pt>
              </c:numCache>
            </c:numRef>
          </c:val>
        </c:ser>
        <c:ser>
          <c:idx val="1"/>
          <c:order val="1"/>
          <c:tx>
            <c:strRef>
              <c:f>Sheet1!$C$1</c:f>
              <c:strCache>
                <c:ptCount val="1"/>
                <c:pt idx="0">
                  <c:v>Escenario asignado</c:v>
                </c:pt>
              </c:strCache>
            </c:strRef>
          </c:tx>
          <c:spPr>
            <a:solidFill>
              <a:srgbClr val="E8A317"/>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Moderado BCE</c:v>
                  </c:pt>
                  <c:pt idx="1">
                    <c:v>Asignado</c:v>
                  </c:pt>
                  <c:pt idx="2">
                    <c:v>Severo BCE</c:v>
                  </c:pt>
                  <c:pt idx="3">
                    <c:v>Extremo</c:v>
                  </c:pt>
                </c:lvl>
              </c:multiLvlStrCache>
            </c:multiLvlStrRef>
          </c:cat>
          <c:val>
            <c:numRef>
              <c:f>Sheet1!$C$2:$C$5</c:f>
              <c:numCache>
                <c:formatCode>General</c:formatCode>
                <c:ptCount val="4"/>
                <c:pt idx="0">
                  <c:v>0</c:v>
                </c:pt>
                <c:pt idx="1">
                  <c:v>39.2</c:v>
                </c:pt>
                <c:pt idx="2">
                  <c:v>0</c:v>
                </c:pt>
                <c:pt idx="3">
                  <c:v>0</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A5C"/>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40"/>
                </a:solidFill>
                <a:latin typeface="+mn-lt"/>
              </a:defRPr>
            </a:pPr>
            <a:r>
              <a:rPr sz="1300" b="0" i="0" u="none" strike="noStrike">
                <a:solidFill>
                  <a:srgbClr val="1B2340"/>
                </a:solidFill>
                <a:latin typeface="+mn-lt"/>
              </a:rPr>
              <a:t>Pérdida El Niño de micro según la LGD (USD MM)</a:t>
            </a:r>
          </a:p>
        </c:rich>
      </c:tx>
      <c:layout/>
      <c:overlay val="0"/>
    </c:title>
    <c:autoTitleDeleted val="0"/>
    <c:plotArea>
      <c:layout/>
      <c:barChart>
        <c:barDir val="col"/>
        <c:grouping val="clustered"/>
        <c:varyColors val="0"/>
        <c:ser>
          <c:idx val="0"/>
          <c:order val="0"/>
          <c:tx>
            <c:strRef>
              <c:f>Sheet1!$B$1</c:f>
              <c:strCache>
                <c:ptCount val="1"/>
                <c:pt idx="0">
                  <c:v>Pérdida El Niño micro</c:v>
                </c:pt>
              </c:strCache>
            </c:strRef>
          </c:tx>
          <c:spPr>
            <a:solidFill>
              <a:srgbClr val="14285A"/>
            </a:solidFill>
            <a:effectLst/>
          </c:spPr>
          <c:invertIfNegative val="0"/>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cat>
            <c:multiLvlStrRef>
              <c:f>Sheet1!$A$2:$A$5</c:f>
              <c:multiLvlStrCache>
                <c:ptCount val="4"/>
                <c:lvl>
                  <c:pt idx="0">
                    <c:v>LGD 60%</c:v>
                  </c:pt>
                  <c:pt idx="1">
                    <c:v>LGD 70% (BCE)</c:v>
                  </c:pt>
                  <c:pt idx="2">
                    <c:v>LGD 80%</c:v>
                  </c:pt>
                  <c:pt idx="3">
                    <c:v>LGD 90%</c:v>
                  </c:pt>
                </c:lvl>
              </c:multiLvlStrCache>
            </c:multiLvlStrRef>
          </c:cat>
          <c:val>
            <c:numRef>
              <c:f>Sheet1!$B$2:$B$5</c:f>
              <c:numCache>
                <c:formatCode>General</c:formatCode>
                <c:ptCount val="4"/>
                <c:pt idx="0">
                  <c:v>59.7</c:v>
                </c:pt>
                <c:pt idx="1">
                  <c:v>69.6</c:v>
                </c:pt>
                <c:pt idx="2">
                  <c:v>79.6</c:v>
                </c:pt>
                <c:pt idx="3">
                  <c:v>89.5</c:v>
                </c:pt>
              </c:numCache>
            </c:numRef>
          </c:val>
        </c:ser>
        <c:dLbls>
          <c:numFmt formatCode="#,##0.0" sourceLinked="0"/>
          <c:txPr>
            <a:bodyPr/>
            <a:lstStyle/>
            <a:p>
              <a:pPr>
                <a:defRPr b="0" i="0" strike="noStrike" sz="1200" u="none">
                  <a:solidFill>
                    <a:srgbClr val="1B234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A5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Buenos días. Hoy les presento cuánto podría costarnos el Fenómeno de El Niño en tres carteras: microfinanzas, PYMES y Empresas. Voy a mostrar cada cálculo y de dónde sale cada dato. La metodología es la del Banco Central del Ecuador, publicada en su Apunte de Economía No. 75 de abril de 2024, y la respaldamos con estudios de Moody's y de Hu y Perraudin.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Empiezo por la conclusión. Con saldos a agosto de 2026, El Niño sumaría 39.2 millones de pérdida adicional sobre 1,529.8 millones de cartera expuesta. La pérdida de esa cartera pasaría de 79.4 a 118.6 millones. Microfinanzas aporta la mayor parte, 25.6 millones, con el escenario severo del BCE. PYMES aporta 5.4 millones, con el escenario moderado. Empresas aporta 8.2 millones, con un factor proporcional del BCE. En las siguientes láminas explico de dónde sale cada número.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 qué hacemos este ejercicio ahora? El 29 de agosto la Secretaría Nacional de Gestión de Riesgos declaró Alerta Roja en todo el país. A mediados de septiembre, el mar estaba 2.9 grados sobre lo normal en el Pacífico central y 4.5 grados frente a nuestras costas. El BCE, en la nota al pie 3 de la página 8, dice que una anomalía de 2 grados o más es un Niño muy fuerte; este evento ya está en esa categoría. Como referencia, el BCE recuerda en las páginas 9 y 10 que el Niño de 1997-98 causó daños por cerca del 2.7% del PIB y que la morosidad del sistema subió de 7.3% a 9.3%. El mayor impacto se espera entre noviembre de 2026 y marzo de 2027, y el BCE advierte en la página 31 que el no pago llega incluso meses después del evento.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Primero definimos qué cartera está expuesta. Usamos 142 cantones declarados con influencia directa: es la lista de 143 cantones que usa el BCE en la página 11, sin Quito. A agosto tenemos 1,529.8 millones expuestos: 449.2 en microfinanzas, 334.0 en PYMES y 746.6 en Empresas, alrededor del 20% de cada segmento. Luego calculamos la pérdida actual de esa cartera multiplicando el saldo por la pérdida incurrida. En microfinanzas, 449.2 por 9.8% da 44.0 millones; en PYMES, 22.0; en Empresas, 13.4. En total, 79.4 millones.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Ahora la fórmula, paso por paso. Paso uno: la pérdida esperada es probabilidad de incumplimiento por exposición por severidad; PE igual PD por EAD por LGD. Es la fórmula que el BCE usa en las páginas 35 y 36, siguiendo Basilea III. Paso dos: si dividimos esa pérdida para el saldo, queda una tasa, PD por LGD; eso es lo que mide nuestra pérdida incurrida. Paso tres: el BCE, en la Tabla 9 de la página 39, define la PD de cada escenario como la PD base más unos puntos, que llamamos delta PD, y deja la severidad igual. Paso cuatro: reemplazamos eso en la fórmula y distribuimos la multiplicación; queda PD por EAD por LGD, más delta PD por EAD por LGD. Paso cinco: el primer término es la pérdida actual y el segundo es lo que agrega El Niño. Al producto delta PD por LGD lo llamamos delta PI. Así: pérdida El Niño igual pérdida actual más saldo por delta PI. En las láminas 11 y 12 muestro cómo se usa cada término con números.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 qué podemos usar la pérdida incurrida como punto de partida? Porque una tasa de pérdida equivale a la tasa de incumplimiento por la severidad. Moody's, en la página 45 de su estudio de 2007, dice que las pérdidas de crédito son función de la probabilidad de incumplimiento y de la severidad, y calcula la tasa de pérdida como tasa de incumplimiento por uno menos la recuperación. Hu y Perraudin definen lo mismo en la página 3 y lo escriben como ecuación en la página 11. Como uno menos la recuperación es la severidad, nuestra pérdida incurrida ya equivale a PD por LGD. La NIIF 9, en su ejemplo ilustrativo 9, también mide la pérdida esperada con una tasa de pérdida, sin una PD explícita.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comprobarlo, hagamos microfinanzas por dos caminos. Camino uno, con la PD: si la pérdida actual es 9.8% y la severidad 70%, la PD implícita es 14.0%. En el escenario severo sube unos 8.1 puntos, a 22.1%; por 70% de severidad da 15.5%, y sobre 449.2 millones son 69.6 millones. Camino dos, el que usamos: la pérdida actual es 44.0 millones; el aumento de la tasa es 8.1 puntos por 70%, 5.7 puntos; sobre 449.2 millones son 25.6 millones adicionales. 44.0 más 25.6 da los mismos 69.6 millones. Por eso no necesitamos conocer la PD por separado.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¿Cuánto sube la PD? El BCE, en la Tabla 9 de la página 39, lo define según el riesgo de la zona: en el escenario severo, 15, 10 y 5 puntos en zonas de riesgo alto, medio y bajo; en el moderado, 6, 5 y 3. Como la cartera está repartida entre zonas, lo correcto sería calcular zona por zona y sumar. Al sacar factor común, eso es igual al saldo por la severidad por la suma ponderada de los shocks. Para los pesos usamos la distribución del sistema que el BCE publica en la página 23: 18.6% en zona alta, 24.0% en media y 57.4% en baja. Así, la PD sube 8.06 puntos en el severo y 4.04 en el moderado. Un promedio simple daría 10 puntos y exageraría, porque la mayor parte de la cartera está en zona baja.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aumento de PD se convierte en pérdida al multiplicarlo por la severidad. El BCE, en la página 37, asigna 70% al microcrédito y 40% al crédito productivo, porque sus garantías son más líquidas. En microfinanzas, 8.06 puntos por 70% da 5.64; la lámina usa 5.7, que viene de la calibración de julio. En PYMES, 4.04 por 40% da 1.62 puntos. Para Empresas usamos un factor: la Tabla 15 de la página 49 muestra que la pérdida esperada de la banca privada pasa de 791 a 1,230 millones en el escenario severo, un factor de 1.555, que redondeamos a 1.6. 1.8% por 1.6 da 2.9%.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 qué Empresas usa un factor y no los mismos puntos? Si a todas las carteras les sumamos los mismos 8 puntos de PD, ignoramos el riesgo de partida. La PD implícita de microfinanzas es 14.0%, que sale de 9.8% dividido para 70%, y sube a 22.1%: 1.6 veces. La de Empresas es 4.5%, que sale de 1.8% dividido para 40%, y subiría a 12.6%: casi el triple, y su pérdida pasaría de 1.8% a 5.0%. Por eso usamos el factor del BCE de la Tabla 15: la pérdida esperada de la banca privada sube 1.6 veces en el escenario severo, el mismo aumento relativo que tiene micro. La teoría lo respalda: en el modelo de Vasicek, base de la fórmula de Basilea, la PD en estrés depende de la PD de partida, y las carteras de PD baja suben menos en puntos. Si aplicamos a Empresas el mismo estrés que lleva a micro de 14.0% a 22.1%, su PD pasa de 4.5% a 7.6% y su pérdida a cerca de 3.0%. El 2.9% del factor es consistente con eso; el 5.0% de los puntos fijos, 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Ahora conecto la fórmula de la lámina 5 con los cálculos, usando microfinanzas. La fórmula dice que la pérdida del escenario es PD por EAD por LGD, más delta PD por EAD por LGD. El primer término lo reordenamos como EAD por, entre paréntesis, PD por LGD. EAD es el saldo expuesto y PD por LGD es nuestra pérdida incurrida; entonces el primer término es saldo por PI actual: 449.2 por 9.8%, 44.0 millones. Es la pérdida actual. El segundo término lo reordenamos igual: EAD por, entre paréntesis, delta PD por LGD. Ese paréntesis es delta PI: 8.06 puntos por 70%, cerca de 5.7 puntos. Entonces el segundo término es saldo por delta PI: 449.2 por 5.7%, 25.6 millones. Es la pérdida adicional por El Niño. Sumando los dos términos, 44.0 más 25.6 da 69.6 millones, el 15.5% de la cartera expuesta.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 la misma lógica calculamos los tres segmentos en cuatro pasos. Paso uno, término 1: la pérdida actual, saldo por PI. Paso dos: el aumento de la tasa, delta PD por LGD. Paso tres, término 2: la pérdida adicional, saldo por delta PI. Paso cuatro: la suma de los dos términos. Microfinanzas: 44.0 más 25.6 da 69.6 millones. PYMES: 334.0 por 6.6% da 22.0; el aumento es 4.04 por 40%, 1.62 puntos, que sobre 334.0 son 5.4 millones; en total, 27.4 millones. Empresas: 746.6 por 1.8% da 13.4; con el factor de 1.6 la PI sube 1.1 puntos, que sobre 746.6 son 8.2 millones; en total, 21.6 millones. Los tres segmentos suman 79.4 más 39.2, es decir, 118.6 millones.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gráfico resume el resultado. Microfinanzas concentra 25.6 de los 39.2 millones adicionales, porque combina la pérdida actual más alta, la severidad más alta y el escenario severo. PYMES aporta 5.4 millones y Empresas 8.2. La pérdida de la cartera expuesta pasa de 79.4 a 118.6 millones, es decir, de 5.2% a 7.8% del saldo expuesto.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dar contexto, aplicamos también el mismo escenario del BCE a los tres segmentos. El BCE explica en la página 40 que su escenario moderado replica los efectos del Niño de 1997-98, y el severo, las dificultades crediticias de la pandemia. Con el moderado en los tres segmentos, la pérdida adicional sería 30.2 millones; con el severo, 60.5 millones. En un escenario extremo, que es un supuesto nuestro donde toda la cartera expuesta se comporta como zona de riesgo alto, llegaría a 112 millones. Nuestro escenario asignado, de 39.2 millones, queda entre el moderado y el severo.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 nos preguntan qué escenario es cada lámina: microfinanzas usa el escenario severo del BCE, con 69.6 millones; PYMES usa el moderado, con 27.4 millones; y Empresas usa el factor proporcional, con 21.6 millones, que queda incluso por debajo del moderado. PYMES en moderado es el punto más débil de defender: con el severo serían 10.8 millones adicionales en vez de 5.4, y el total subiría de 39.2 a 44.6 millones.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limitación importante: mantener la severidad fija, como hace el BCE, tiende a subestimar la pérdida. Hu y Perraudin encuentran, en el resumen de la página 1, que las tasas de incumplimiento y de recuperación están correlacionadas negativamente; en la Tabla 5 de la página 22 esa correlación es de menos 0.22, y en la conclusión de la página 15 dicen que las recuperaciones tienden a ser bajas cuando los incumplimientos son altos. Moody's, en la página 8, atribuye las recuperaciones altas de 2006 a la buena economía. Para dimensionarlo: si la severidad de microfinanzas subiera de 70% a 80%, su pérdida pasaría de 15.5% a 17.7%, unos 10 millones más. Además, usamos la distribución de zonas del sistema y no la nuestra, y suponemos que la pérdida incurrida de agosto es igual a la de julio.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cerrar. El evento que modeló el BCE en 2024 terminó con un impacto bajo, según la página 57; el actual ya supera los 2 grados, por eso el severo es una referencia razonable. El BCE estima además que un Niño fuerte restaría 1.4 puntos al crecimiento del PIB de 2027. Proponemos cuatro pasos. Uno: confirmar la definición de la zona expuesta, porque micro subió 24% y PYMES 19% de julio a agosto. Dos: cruzar las parroquias con el mapa del BCE para usar nuestra propia mezcla de zonas. Tres: validar las severidades internas; con 40%, PYMES implica una PD de 16.5%, mayor que la de micro. Cuatro: monitorear la mora cada mes por zona y actualizar con cada boletín del ERFEN. Si se activan diferimientos, la mora visible se retrasará, pero la pérdida no desaparece. Gracias.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el anexo están todas las fuentes con su página, por si alguien quiere revisar un dato. Las principales son el Apunte de Economía No. 75 del BCE, el estudio de Moody's de 2007, el paper de Hu y Perraudin de 2006 y el modelo de Vasicek que respalda el factor de Empresas.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_OSCURO">
    <p:bg>
      <p:bgPr>
        <a:solidFill>
          <a:srgbClr val="1428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46304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731520" y="3794760"/>
            <a:ext cx="10698480" cy="91440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000" b="1" dirty="0">
                <a:solidFill>
                  <a:schemeClr val="accent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Pérdida por El Niño · Corte agosto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_OSCURO">
    <p:bg>
      <p:bgPr>
        <a:solidFill>
          <a:srgbClr val="1428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Ícono ola círculo"/>
          <p:cNvSpPr/>
          <p:nvPr/>
        </p:nvSpPr>
        <p:spPr>
          <a:xfrm>
            <a:off x="731520" y="1051560"/>
            <a:ext cx="868680" cy="868680"/>
          </a:xfrm>
          <a:prstGeom prst="ellipse">
            <a:avLst/>
          </a:prstGeom>
          <a:solidFill>
            <a:schemeClr val="accent2"/>
          </a:solidFill>
          <a:ln w="12700">
            <a:solidFill>
              <a:schemeClr val="accent2"/>
            </a:solidFill>
            <a:prstDash val="solid"/>
          </a:ln>
        </p:spPr>
      </p:sp>
      <p:pic>
        <p:nvPicPr>
          <p:cNvPr id="3" name="Ícono ola" descr="preencoded.png">    </p:cNvPr>
          <p:cNvPicPr>
            <a:picLocks noChangeAspect="1"/>
          </p:cNvPicPr>
          <p:nvPr/>
        </p:nvPicPr>
        <p:blipFill>
          <a:blip r:embed="rId1"/>
          <a:stretch>
            <a:fillRect/>
          </a:stretch>
        </p:blipFill>
        <p:spPr>
          <a:xfrm>
            <a:off x="922630" y="1242670"/>
            <a:ext cx="486461" cy="486461"/>
          </a:xfrm>
          <a:prstGeom prst="rect">
            <a:avLst/>
          </a:prstGeom>
        </p:spPr>
      </p:pic>
      <p:sp>
        <p:nvSpPr>
          <p:cNvPr id="4" name="Text 0"/>
          <p:cNvSpPr/>
          <p:nvPr>
            <p:ph idx="100" type="title" hasCustomPrompt="1"/>
          </p:nvPr>
        </p:nvSpPr>
        <p:spPr>
          <a:xfrm>
            <a:off x="731520" y="2148840"/>
            <a:ext cx="10698480" cy="146304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Pérdida incurrida por el</a:t>
            </a:r>
            <a:endParaRPr lang="en-US" sz="4000" dirty="0"/>
          </a:p>
          <a:p>
            <a:pPr algn="l" indent="0" marL="0">
              <a:buNone/>
            </a:pPr>
            <a:r>
              <a:rPr lang="en-US" sz="4000" b="1" dirty="0">
                <a:solidFill>
                  <a:schemeClr val="bg1"/>
                </a:solidFill>
                <a:latin typeface="Arial" pitchFamily="34" charset="0"/>
                <a:ea typeface="Arial" pitchFamily="34" charset="-122"/>
                <a:cs typeface="Arial" pitchFamily="34" charset="-120"/>
              </a:rPr>
              <a:t>Fenómeno de El Niño</a:t>
            </a:r>
            <a:endParaRPr lang="en-US" sz="4000" dirty="0"/>
          </a:p>
        </p:txBody>
      </p:sp>
      <p:sp>
        <p:nvSpPr>
          <p:cNvPr id="5" name="Text 0"/>
          <p:cNvSpPr/>
          <p:nvPr>
            <p:ph idx="101" type="body" hasCustomPrompt="1"/>
          </p:nvPr>
        </p:nvSpPr>
        <p:spPr>
          <a:xfrm>
            <a:off x="731520" y="3794760"/>
            <a:ext cx="10698480" cy="91440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Microfinanzas, PYMES y Empresas · Corte agosto 2026 · Metodología del BCE (Apuntes de Economía No. 75)</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El Niño sumaría 39.2 MM de pérdida adicional</a:t>
            </a:r>
            <a:endParaRPr lang="en-US" sz="3000" dirty="0"/>
          </a:p>
        </p:txBody>
      </p:sp>
      <p:sp>
        <p:nvSpPr>
          <p:cNvPr id="3" name="Cifra principal"/>
          <p:cNvSpPr txBox="1"/>
          <p:nvPr/>
        </p:nvSpPr>
        <p:spPr>
          <a:xfrm>
            <a:off x="548640" y="1600200"/>
            <a:ext cx="5120640" cy="109728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+39.2 MM</a:t>
            </a:r>
            <a:endParaRPr lang="en-US" sz="6600" dirty="0"/>
          </a:p>
        </p:txBody>
      </p:sp>
      <p:sp>
        <p:nvSpPr>
          <p:cNvPr id="4" name="Text 2"/>
          <p:cNvSpPr txBox="1"/>
          <p:nvPr/>
        </p:nvSpPr>
        <p:spPr>
          <a:xfrm>
            <a:off x="548640" y="2743200"/>
            <a:ext cx="4937760" cy="7315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de pérdida incurrida adicional sobre 1,529.8 MM de cartera expuesta</a:t>
            </a:r>
            <a:endParaRPr lang="en-US" sz="1800" dirty="0"/>
          </a:p>
        </p:txBody>
      </p:sp>
      <p:sp>
        <p:nvSpPr>
          <p:cNvPr id="5" name="Antes y después"/>
          <p:cNvSpPr/>
          <p:nvPr/>
        </p:nvSpPr>
        <p:spPr>
          <a:xfrm>
            <a:off x="548640" y="3794760"/>
            <a:ext cx="4937760" cy="1188720"/>
          </a:xfrm>
          <a:prstGeom prst="roundRect">
            <a:avLst>
              <a:gd name="adj" fmla="val 6154"/>
            </a:avLst>
          </a:prstGeom>
          <a:solidFill>
            <a:schemeClr val="bg2"/>
          </a:solidFill>
          <a:ln w="12700">
            <a:solidFill>
              <a:schemeClr val="bg2"/>
            </a:solidFill>
            <a:prstDash val="solid"/>
          </a:ln>
        </p:spPr>
      </p:sp>
      <p:sp>
        <p:nvSpPr>
          <p:cNvPr id="6" name="Text 4"/>
          <p:cNvSpPr txBox="1"/>
          <p:nvPr/>
        </p:nvSpPr>
        <p:spPr>
          <a:xfrm>
            <a:off x="822960" y="3931920"/>
            <a:ext cx="4480560" cy="960120"/>
          </a:xfrm>
          <a:prstGeom prst="rect">
            <a:avLst/>
          </a:prstGeom>
          <a:noFill/>
          <a:ln/>
        </p:spPr>
        <p:txBody>
          <a:bodyPr wrap="square" lIns="0" tIns="0" rIns="0" bIns="0" rtlCol="0" anchor="ctr"/>
          <a:lstStyle/>
          <a:p>
            <a:pPr indent="0" marL="0">
              <a:buNone/>
            </a:pPr>
            <a:r>
              <a:rPr lang="en-US" sz="2600" b="1" dirty="0">
                <a:solidFill>
                  <a:schemeClr val="accent1"/>
                </a:solidFill>
                <a:latin typeface="Calibri" pitchFamily="34" charset="0"/>
                <a:ea typeface="Calibri" pitchFamily="34" charset="-122"/>
                <a:cs typeface="Calibri" pitchFamily="34" charset="-120"/>
              </a:rPr>
              <a:t>79.4 MM</a:t>
            </a:r>
            <a:pPr indent="0" marL="0">
              <a:buNone/>
            </a:pPr>
            <a:r>
              <a:rPr lang="en-US" sz="2600" b="1" dirty="0">
                <a:solidFill>
                  <a:schemeClr val="accent2"/>
                </a:solidFill>
                <a:latin typeface="Calibri" pitchFamily="34" charset="0"/>
                <a:ea typeface="Calibri" pitchFamily="34" charset="-122"/>
                <a:cs typeface="Calibri" pitchFamily="34" charset="-120"/>
              </a:rPr>
              <a:t>   →   </a:t>
            </a:r>
            <a:pPr indent="0" marL="0">
              <a:buNone/>
            </a:pPr>
            <a:r>
              <a:rPr lang="en-US" sz="2600" b="1" dirty="0">
                <a:solidFill>
                  <a:schemeClr val="accent1"/>
                </a:solidFill>
                <a:latin typeface="Calibri" pitchFamily="34" charset="0"/>
                <a:ea typeface="Calibri" pitchFamily="34" charset="-122"/>
                <a:cs typeface="Calibri" pitchFamily="34" charset="-120"/>
              </a:rPr>
              <a:t>118.6 MM</a:t>
            </a:r>
            <a:endParaRPr lang="en-US" sz="1400" dirty="0"/>
          </a:p>
          <a:p>
            <a:pPr indent="0" marL="0">
              <a:buNone/>
            </a:pPr>
            <a:r>
              <a:rPr lang="en-US" sz="1400" dirty="0">
                <a:solidFill>
                  <a:schemeClr val="accent5"/>
                </a:solidFill>
                <a:latin typeface="Calibri" pitchFamily="34" charset="0"/>
                <a:ea typeface="Calibri" pitchFamily="34" charset="-122"/>
                <a:cs typeface="Calibri" pitchFamily="34" charset="-120"/>
              </a:rPr>
              <a:t>Pérdida actual de la cartera expuesta → con El Niño</a:t>
            </a:r>
            <a:endParaRPr lang="en-US" sz="1400" dirty="0"/>
          </a:p>
        </p:txBody>
      </p:sp>
      <p:sp>
        <p:nvSpPr>
          <p:cNvPr id="7" name="Tarjeta Microfinanzas"/>
          <p:cNvSpPr/>
          <p:nvPr/>
        </p:nvSpPr>
        <p:spPr>
          <a:xfrm>
            <a:off x="6035040" y="1463040"/>
            <a:ext cx="5605272" cy="1280160"/>
          </a:xfrm>
          <a:prstGeom prst="roundRect">
            <a:avLst>
              <a:gd name="adj" fmla="val 5714"/>
            </a:avLst>
          </a:prstGeom>
          <a:solidFill>
            <a:schemeClr val="bg2"/>
          </a:solidFill>
          <a:ln w="12700">
            <a:solidFill>
              <a:schemeClr val="bg2"/>
            </a:solidFill>
            <a:prstDash val="solid"/>
          </a:ln>
        </p:spPr>
      </p:sp>
      <p:sp>
        <p:nvSpPr>
          <p:cNvPr id="8" name="Ícono Microfinanzas círculo"/>
          <p:cNvSpPr/>
          <p:nvPr/>
        </p:nvSpPr>
        <p:spPr>
          <a:xfrm>
            <a:off x="6263640" y="1737360"/>
            <a:ext cx="731520" cy="731520"/>
          </a:xfrm>
          <a:prstGeom prst="ellipse">
            <a:avLst/>
          </a:prstGeom>
          <a:solidFill>
            <a:schemeClr val="accent1"/>
          </a:solidFill>
          <a:ln w="12700">
            <a:solidFill>
              <a:schemeClr val="accent1"/>
            </a:solidFill>
            <a:prstDash val="solid"/>
          </a:ln>
        </p:spPr>
      </p:sp>
      <p:pic>
        <p:nvPicPr>
          <p:cNvPr id="9" name="Ícono Microfinanzas" descr="preencoded.png">    </p:cNvPr>
          <p:cNvPicPr>
            <a:picLocks noChangeAspect="1"/>
          </p:cNvPicPr>
          <p:nvPr/>
        </p:nvPicPr>
        <p:blipFill>
          <a:blip r:embed="rId1"/>
          <a:stretch>
            <a:fillRect/>
          </a:stretch>
        </p:blipFill>
        <p:spPr>
          <a:xfrm>
            <a:off x="6424574" y="1898294"/>
            <a:ext cx="409651" cy="409651"/>
          </a:xfrm>
          <a:prstGeom prst="rect">
            <a:avLst/>
          </a:prstGeom>
        </p:spPr>
      </p:pic>
      <p:sp>
        <p:nvSpPr>
          <p:cNvPr id="10" name="Text 7"/>
          <p:cNvSpPr txBox="1"/>
          <p:nvPr/>
        </p:nvSpPr>
        <p:spPr>
          <a:xfrm>
            <a:off x="7223760" y="1664208"/>
            <a:ext cx="265176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Microfinanzas</a:t>
            </a:r>
            <a:endParaRPr lang="en-US" sz="1800" dirty="0"/>
          </a:p>
        </p:txBody>
      </p:sp>
      <p:sp>
        <p:nvSpPr>
          <p:cNvPr id="11" name="Text 8"/>
          <p:cNvSpPr txBox="1"/>
          <p:nvPr/>
        </p:nvSpPr>
        <p:spPr>
          <a:xfrm>
            <a:off x="7223760" y="2103120"/>
            <a:ext cx="269748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 9.8% → 15.5% · Escenario severo BCE</a:t>
            </a:r>
            <a:endParaRPr lang="en-US" sz="1300" dirty="0"/>
          </a:p>
        </p:txBody>
      </p:sp>
      <p:sp>
        <p:nvSpPr>
          <p:cNvPr id="12" name="Text 9"/>
          <p:cNvSpPr txBox="1"/>
          <p:nvPr/>
        </p:nvSpPr>
        <p:spPr>
          <a:xfrm>
            <a:off x="9921240" y="1737360"/>
            <a:ext cx="1554480" cy="731520"/>
          </a:xfrm>
          <a:prstGeom prst="rect">
            <a:avLst/>
          </a:prstGeom>
          <a:noFill/>
          <a:ln/>
        </p:spPr>
        <p:txBody>
          <a:bodyPr wrap="square" lIns="0" tIns="0" rIns="0" bIns="0" rtlCol="0" anchor="ctr"/>
          <a:lstStyle/>
          <a:p>
            <a:pPr algn="r" indent="0" marL="0">
              <a:buNone/>
            </a:pPr>
            <a:r>
              <a:rPr lang="en-US" sz="2400" b="1" dirty="0">
                <a:solidFill>
                  <a:schemeClr val="accent1"/>
                </a:solidFill>
                <a:latin typeface="Arial" pitchFamily="34" charset="0"/>
                <a:ea typeface="Arial" pitchFamily="34" charset="-122"/>
                <a:cs typeface="Arial" pitchFamily="34" charset="-120"/>
              </a:rPr>
              <a:t>+25.6 MM</a:t>
            </a:r>
            <a:endParaRPr lang="en-US" sz="2400" dirty="0"/>
          </a:p>
        </p:txBody>
      </p:sp>
      <p:sp>
        <p:nvSpPr>
          <p:cNvPr id="13" name="Tarjeta PYMES"/>
          <p:cNvSpPr/>
          <p:nvPr/>
        </p:nvSpPr>
        <p:spPr>
          <a:xfrm>
            <a:off x="6035040" y="2926080"/>
            <a:ext cx="5605272" cy="1280160"/>
          </a:xfrm>
          <a:prstGeom prst="roundRect">
            <a:avLst>
              <a:gd name="adj" fmla="val 5714"/>
            </a:avLst>
          </a:prstGeom>
          <a:solidFill>
            <a:schemeClr val="bg2"/>
          </a:solidFill>
          <a:ln w="12700">
            <a:solidFill>
              <a:schemeClr val="bg2"/>
            </a:solidFill>
            <a:prstDash val="solid"/>
          </a:ln>
        </p:spPr>
      </p:sp>
      <p:sp>
        <p:nvSpPr>
          <p:cNvPr id="14" name="Ícono PYMES círculo"/>
          <p:cNvSpPr/>
          <p:nvPr/>
        </p:nvSpPr>
        <p:spPr>
          <a:xfrm>
            <a:off x="6263640" y="3200400"/>
            <a:ext cx="731520" cy="731520"/>
          </a:xfrm>
          <a:prstGeom prst="ellipse">
            <a:avLst/>
          </a:prstGeom>
          <a:solidFill>
            <a:schemeClr val="accent1"/>
          </a:solidFill>
          <a:ln w="12700">
            <a:solidFill>
              <a:schemeClr val="accent1"/>
            </a:solidFill>
            <a:prstDash val="solid"/>
          </a:ln>
        </p:spPr>
      </p:sp>
      <p:pic>
        <p:nvPicPr>
          <p:cNvPr id="15" name="Ícono PYMES" descr="preencoded.png">    </p:cNvPr>
          <p:cNvPicPr>
            <a:picLocks noChangeAspect="1"/>
          </p:cNvPicPr>
          <p:nvPr/>
        </p:nvPicPr>
        <p:blipFill>
          <a:blip r:embed="rId2"/>
          <a:stretch>
            <a:fillRect/>
          </a:stretch>
        </p:blipFill>
        <p:spPr>
          <a:xfrm>
            <a:off x="6424574" y="3361334"/>
            <a:ext cx="409651" cy="409651"/>
          </a:xfrm>
          <a:prstGeom prst="rect">
            <a:avLst/>
          </a:prstGeom>
        </p:spPr>
      </p:pic>
      <p:sp>
        <p:nvSpPr>
          <p:cNvPr id="16" name="Text 12"/>
          <p:cNvSpPr txBox="1"/>
          <p:nvPr/>
        </p:nvSpPr>
        <p:spPr>
          <a:xfrm>
            <a:off x="7223760" y="3127248"/>
            <a:ext cx="265176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PYMES</a:t>
            </a:r>
            <a:endParaRPr lang="en-US" sz="1800" dirty="0"/>
          </a:p>
        </p:txBody>
      </p:sp>
      <p:sp>
        <p:nvSpPr>
          <p:cNvPr id="17" name="Text 13"/>
          <p:cNvSpPr txBox="1"/>
          <p:nvPr/>
        </p:nvSpPr>
        <p:spPr>
          <a:xfrm>
            <a:off x="7223760" y="3566160"/>
            <a:ext cx="269748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 6.6% → 8.2% · Escenario moderado BCE</a:t>
            </a:r>
            <a:endParaRPr lang="en-US" sz="1300" dirty="0"/>
          </a:p>
        </p:txBody>
      </p:sp>
      <p:sp>
        <p:nvSpPr>
          <p:cNvPr id="18" name="Text 14"/>
          <p:cNvSpPr txBox="1"/>
          <p:nvPr/>
        </p:nvSpPr>
        <p:spPr>
          <a:xfrm>
            <a:off x="9921240" y="3200400"/>
            <a:ext cx="1554480" cy="731520"/>
          </a:xfrm>
          <a:prstGeom prst="rect">
            <a:avLst/>
          </a:prstGeom>
          <a:noFill/>
          <a:ln/>
        </p:spPr>
        <p:txBody>
          <a:bodyPr wrap="square" lIns="0" tIns="0" rIns="0" bIns="0" rtlCol="0" anchor="ctr"/>
          <a:lstStyle/>
          <a:p>
            <a:pPr algn="r" indent="0" marL="0">
              <a:buNone/>
            </a:pPr>
            <a:r>
              <a:rPr lang="en-US" sz="2400" b="1" dirty="0">
                <a:solidFill>
                  <a:schemeClr val="accent1"/>
                </a:solidFill>
                <a:latin typeface="Arial" pitchFamily="34" charset="0"/>
                <a:ea typeface="Arial" pitchFamily="34" charset="-122"/>
                <a:cs typeface="Arial" pitchFamily="34" charset="-120"/>
              </a:rPr>
              <a:t>+5.4 MM</a:t>
            </a:r>
            <a:endParaRPr lang="en-US" sz="2400" dirty="0"/>
          </a:p>
        </p:txBody>
      </p:sp>
      <p:sp>
        <p:nvSpPr>
          <p:cNvPr id="19" name="Tarjeta Empresas"/>
          <p:cNvSpPr/>
          <p:nvPr/>
        </p:nvSpPr>
        <p:spPr>
          <a:xfrm>
            <a:off x="6035040" y="4389120"/>
            <a:ext cx="5605272" cy="1280160"/>
          </a:xfrm>
          <a:prstGeom prst="roundRect">
            <a:avLst>
              <a:gd name="adj" fmla="val 5714"/>
            </a:avLst>
          </a:prstGeom>
          <a:solidFill>
            <a:schemeClr val="bg2"/>
          </a:solidFill>
          <a:ln w="12700">
            <a:solidFill>
              <a:schemeClr val="bg2"/>
            </a:solidFill>
            <a:prstDash val="solid"/>
          </a:ln>
        </p:spPr>
      </p:sp>
      <p:sp>
        <p:nvSpPr>
          <p:cNvPr id="20" name="Ícono Empresas círculo"/>
          <p:cNvSpPr/>
          <p:nvPr/>
        </p:nvSpPr>
        <p:spPr>
          <a:xfrm>
            <a:off x="6263640" y="4663440"/>
            <a:ext cx="731520" cy="731520"/>
          </a:xfrm>
          <a:prstGeom prst="ellipse">
            <a:avLst/>
          </a:prstGeom>
          <a:solidFill>
            <a:schemeClr val="accent1"/>
          </a:solidFill>
          <a:ln w="12700">
            <a:solidFill>
              <a:schemeClr val="accent1"/>
            </a:solidFill>
            <a:prstDash val="solid"/>
          </a:ln>
        </p:spPr>
      </p:sp>
      <p:pic>
        <p:nvPicPr>
          <p:cNvPr id="21" name="Ícono Empresas" descr="preencoded.png">    </p:cNvPr>
          <p:cNvPicPr>
            <a:picLocks noChangeAspect="1"/>
          </p:cNvPicPr>
          <p:nvPr/>
        </p:nvPicPr>
        <p:blipFill>
          <a:blip r:embed="rId3"/>
          <a:stretch>
            <a:fillRect/>
          </a:stretch>
        </p:blipFill>
        <p:spPr>
          <a:xfrm>
            <a:off x="6424574" y="4824374"/>
            <a:ext cx="409651" cy="409651"/>
          </a:xfrm>
          <a:prstGeom prst="rect">
            <a:avLst/>
          </a:prstGeom>
        </p:spPr>
      </p:pic>
      <p:sp>
        <p:nvSpPr>
          <p:cNvPr id="22" name="Text 17"/>
          <p:cNvSpPr txBox="1"/>
          <p:nvPr/>
        </p:nvSpPr>
        <p:spPr>
          <a:xfrm>
            <a:off x="7223760" y="4590288"/>
            <a:ext cx="265176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Empresas</a:t>
            </a:r>
            <a:endParaRPr lang="en-US" sz="1800" dirty="0"/>
          </a:p>
        </p:txBody>
      </p:sp>
      <p:sp>
        <p:nvSpPr>
          <p:cNvPr id="23" name="Text 18"/>
          <p:cNvSpPr txBox="1"/>
          <p:nvPr/>
        </p:nvSpPr>
        <p:spPr>
          <a:xfrm>
            <a:off x="7223760" y="5029200"/>
            <a:ext cx="269748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 1.8% → 2.9% · Factor proporcional BCE</a:t>
            </a:r>
            <a:endParaRPr lang="en-US" sz="1300" dirty="0"/>
          </a:p>
        </p:txBody>
      </p:sp>
      <p:sp>
        <p:nvSpPr>
          <p:cNvPr id="24" name="Text 19"/>
          <p:cNvSpPr txBox="1"/>
          <p:nvPr/>
        </p:nvSpPr>
        <p:spPr>
          <a:xfrm>
            <a:off x="9921240" y="4663440"/>
            <a:ext cx="1554480" cy="731520"/>
          </a:xfrm>
          <a:prstGeom prst="rect">
            <a:avLst/>
          </a:prstGeom>
          <a:noFill/>
          <a:ln/>
        </p:spPr>
        <p:txBody>
          <a:bodyPr wrap="square" lIns="0" tIns="0" rIns="0" bIns="0" rtlCol="0" anchor="ctr"/>
          <a:lstStyle/>
          <a:p>
            <a:pPr algn="r" indent="0" marL="0">
              <a:buNone/>
            </a:pPr>
            <a:r>
              <a:rPr lang="en-US" sz="2400" b="1" dirty="0">
                <a:solidFill>
                  <a:schemeClr val="accent1"/>
                </a:solidFill>
                <a:latin typeface="Arial" pitchFamily="34" charset="0"/>
                <a:ea typeface="Arial" pitchFamily="34" charset="-122"/>
                <a:cs typeface="Arial" pitchFamily="34" charset="-120"/>
              </a:rPr>
              <a:t>+8.2 MM</a:t>
            </a:r>
            <a:endParaRPr lang="en-US" sz="2400" dirty="0"/>
          </a:p>
        </p:txBody>
      </p:sp>
      <p:sp>
        <p:nvSpPr>
          <p:cNvPr id="25"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Cada segmento usa un escenario distinto del BCE; el rango completo está en las láminas de resultados.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Este Niño ya califica como muy fuerte</a:t>
            </a:r>
            <a:endParaRPr lang="en-US" sz="3000" dirty="0"/>
          </a:p>
        </p:txBody>
      </p:sp>
      <p:sp>
        <p:nvSpPr>
          <p:cNvPr id="3" name="Tarjeta Alerta Roja"/>
          <p:cNvSpPr/>
          <p:nvPr/>
        </p:nvSpPr>
        <p:spPr>
          <a:xfrm>
            <a:off x="548640" y="1463040"/>
            <a:ext cx="2567864" cy="4206240"/>
          </a:xfrm>
          <a:prstGeom prst="roundRect">
            <a:avLst>
              <a:gd name="adj" fmla="val 2849"/>
            </a:avLst>
          </a:prstGeom>
          <a:solidFill>
            <a:schemeClr val="bg2"/>
          </a:solidFill>
          <a:ln w="12700">
            <a:solidFill>
              <a:schemeClr val="bg2"/>
            </a:solidFill>
            <a:prstDash val="solid"/>
          </a:ln>
        </p:spPr>
      </p:sp>
      <p:sp>
        <p:nvSpPr>
          <p:cNvPr id="4" name="Ícono Alerta Roja círculo"/>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Ícono Alerta Roja" descr="preencoded.png">    </p:cNvPr>
          <p:cNvPicPr>
            <a:picLocks noChangeAspect="1"/>
          </p:cNvPicPr>
          <p:nvPr/>
        </p:nvPicPr>
        <p:blipFill>
          <a:blip r:embed="rId1"/>
          <a:stretch>
            <a:fillRect/>
          </a:stretch>
        </p:blipFill>
        <p:spPr>
          <a:xfrm>
            <a:off x="1004011" y="1918411"/>
            <a:ext cx="460858" cy="460858"/>
          </a:xfrm>
          <a:prstGeom prst="rect">
            <a:avLst/>
          </a:prstGeom>
        </p:spPr>
      </p:pic>
      <p:sp>
        <p:nvSpPr>
          <p:cNvPr id="6" name="Text 3"/>
          <p:cNvSpPr txBox="1"/>
          <p:nvPr/>
        </p:nvSpPr>
        <p:spPr>
          <a:xfrm>
            <a:off x="822960" y="2743200"/>
            <a:ext cx="2110664" cy="6400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Alerta Roja</a:t>
            </a:r>
            <a:endParaRPr lang="en-US" sz="2400" dirty="0"/>
          </a:p>
        </p:txBody>
      </p:sp>
      <p:sp>
        <p:nvSpPr>
          <p:cNvPr id="7" name="Text 4"/>
          <p:cNvSpPr txBox="1"/>
          <p:nvPr/>
        </p:nvSpPr>
        <p:spPr>
          <a:xfrm>
            <a:off x="822960" y="3474720"/>
            <a:ext cx="2064944"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Declarada en todo el país el 29 de agosto de 2026</a:t>
            </a:r>
            <a:endParaRPr lang="en-US" sz="1500" dirty="0"/>
          </a:p>
        </p:txBody>
      </p:sp>
      <p:sp>
        <p:nvSpPr>
          <p:cNvPr id="8" name="Text 5"/>
          <p:cNvSpPr txBox="1"/>
          <p:nvPr/>
        </p:nvSpPr>
        <p:spPr>
          <a:xfrm>
            <a:off x="822960" y="5029200"/>
            <a:ext cx="2110664" cy="50292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SNGR, Resolución SNGR-238-2026</a:t>
            </a:r>
            <a:endParaRPr lang="en-US" sz="1000" dirty="0"/>
          </a:p>
        </p:txBody>
      </p:sp>
      <p:sp>
        <p:nvSpPr>
          <p:cNvPr id="9" name="Tarjeta +2.9 °C"/>
          <p:cNvSpPr/>
          <p:nvPr/>
        </p:nvSpPr>
        <p:spPr>
          <a:xfrm>
            <a:off x="3390824" y="1463040"/>
            <a:ext cx="2567864" cy="4206240"/>
          </a:xfrm>
          <a:prstGeom prst="roundRect">
            <a:avLst>
              <a:gd name="adj" fmla="val 2849"/>
            </a:avLst>
          </a:prstGeom>
          <a:solidFill>
            <a:schemeClr val="bg2"/>
          </a:solidFill>
          <a:ln w="12700">
            <a:solidFill>
              <a:schemeClr val="bg2"/>
            </a:solidFill>
            <a:prstDash val="solid"/>
          </a:ln>
        </p:spPr>
      </p:sp>
      <p:sp>
        <p:nvSpPr>
          <p:cNvPr id="10" name="Ícono +2.9 °C círculo"/>
          <p:cNvSpPr/>
          <p:nvPr/>
        </p:nvSpPr>
        <p:spPr>
          <a:xfrm>
            <a:off x="3665144" y="1737360"/>
            <a:ext cx="822960" cy="822960"/>
          </a:xfrm>
          <a:prstGeom prst="ellipse">
            <a:avLst/>
          </a:prstGeom>
          <a:solidFill>
            <a:schemeClr val="accent1"/>
          </a:solidFill>
          <a:ln w="12700">
            <a:solidFill>
              <a:schemeClr val="accent1"/>
            </a:solidFill>
            <a:prstDash val="solid"/>
          </a:ln>
        </p:spPr>
      </p:sp>
      <p:pic>
        <p:nvPicPr>
          <p:cNvPr id="11" name="Ícono +2.9 °C" descr="preencoded.png">    </p:cNvPr>
          <p:cNvPicPr>
            <a:picLocks noChangeAspect="1"/>
          </p:cNvPicPr>
          <p:nvPr/>
        </p:nvPicPr>
        <p:blipFill>
          <a:blip r:embed="rId2"/>
          <a:stretch>
            <a:fillRect/>
          </a:stretch>
        </p:blipFill>
        <p:spPr>
          <a:xfrm>
            <a:off x="3846195" y="1918411"/>
            <a:ext cx="460858" cy="460858"/>
          </a:xfrm>
          <a:prstGeom prst="rect">
            <a:avLst/>
          </a:prstGeom>
        </p:spPr>
      </p:pic>
      <p:sp>
        <p:nvSpPr>
          <p:cNvPr id="12" name="Text 8"/>
          <p:cNvSpPr txBox="1"/>
          <p:nvPr/>
        </p:nvSpPr>
        <p:spPr>
          <a:xfrm>
            <a:off x="3665144" y="2743200"/>
            <a:ext cx="2110664" cy="6400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+2.9 °C</a:t>
            </a:r>
            <a:endParaRPr lang="en-US" sz="2400" dirty="0"/>
          </a:p>
        </p:txBody>
      </p:sp>
      <p:sp>
        <p:nvSpPr>
          <p:cNvPr id="13" name="Text 9"/>
          <p:cNvSpPr txBox="1"/>
          <p:nvPr/>
        </p:nvSpPr>
        <p:spPr>
          <a:xfrm>
            <a:off x="3665144" y="3474720"/>
            <a:ext cx="2064944"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Anomalía en el Pacífico central (+4.5 °C frente a la costa). Sobre 2 °C es "muy fuerte"</a:t>
            </a:r>
            <a:endParaRPr lang="en-US" sz="1500" dirty="0"/>
          </a:p>
        </p:txBody>
      </p:sp>
      <p:sp>
        <p:nvSpPr>
          <p:cNvPr id="14" name="Text 10"/>
          <p:cNvSpPr txBox="1"/>
          <p:nvPr/>
        </p:nvSpPr>
        <p:spPr>
          <a:xfrm>
            <a:off x="3665144" y="5029200"/>
            <a:ext cx="2110664" cy="50292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CN-ERFEN 009-2026; BCE pág. 8, nota 3</a:t>
            </a:r>
            <a:endParaRPr lang="en-US" sz="1000" dirty="0"/>
          </a:p>
        </p:txBody>
      </p:sp>
      <p:sp>
        <p:nvSpPr>
          <p:cNvPr id="15" name="Tarjeta 2.7% del PIB"/>
          <p:cNvSpPr/>
          <p:nvPr/>
        </p:nvSpPr>
        <p:spPr>
          <a:xfrm>
            <a:off x="6233008" y="1463040"/>
            <a:ext cx="2567864" cy="4206240"/>
          </a:xfrm>
          <a:prstGeom prst="roundRect">
            <a:avLst>
              <a:gd name="adj" fmla="val 2849"/>
            </a:avLst>
          </a:prstGeom>
          <a:solidFill>
            <a:schemeClr val="bg2"/>
          </a:solidFill>
          <a:ln w="12700">
            <a:solidFill>
              <a:schemeClr val="bg2"/>
            </a:solidFill>
            <a:prstDash val="solid"/>
          </a:ln>
        </p:spPr>
      </p:sp>
      <p:sp>
        <p:nvSpPr>
          <p:cNvPr id="16" name="Ícono 2.7% del PIB círculo"/>
          <p:cNvSpPr/>
          <p:nvPr/>
        </p:nvSpPr>
        <p:spPr>
          <a:xfrm>
            <a:off x="6507328" y="1737360"/>
            <a:ext cx="822960" cy="822960"/>
          </a:xfrm>
          <a:prstGeom prst="ellipse">
            <a:avLst/>
          </a:prstGeom>
          <a:solidFill>
            <a:schemeClr val="accent1"/>
          </a:solidFill>
          <a:ln w="12700">
            <a:solidFill>
              <a:schemeClr val="accent1"/>
            </a:solidFill>
            <a:prstDash val="solid"/>
          </a:ln>
        </p:spPr>
      </p:sp>
      <p:pic>
        <p:nvPicPr>
          <p:cNvPr id="17" name="Ícono 2.7% del PIB" descr="preencoded.png">    </p:cNvPr>
          <p:cNvPicPr>
            <a:picLocks noChangeAspect="1"/>
          </p:cNvPicPr>
          <p:nvPr/>
        </p:nvPicPr>
        <p:blipFill>
          <a:blip r:embed="rId3"/>
          <a:stretch>
            <a:fillRect/>
          </a:stretch>
        </p:blipFill>
        <p:spPr>
          <a:xfrm>
            <a:off x="6688379" y="1918411"/>
            <a:ext cx="460858" cy="460858"/>
          </a:xfrm>
          <a:prstGeom prst="rect">
            <a:avLst/>
          </a:prstGeom>
        </p:spPr>
      </p:pic>
      <p:sp>
        <p:nvSpPr>
          <p:cNvPr id="18" name="Text 13"/>
          <p:cNvSpPr txBox="1"/>
          <p:nvPr/>
        </p:nvSpPr>
        <p:spPr>
          <a:xfrm>
            <a:off x="6507328" y="2743200"/>
            <a:ext cx="2110664" cy="6400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2.7% del PIB</a:t>
            </a:r>
            <a:endParaRPr lang="en-US" sz="2400" dirty="0"/>
          </a:p>
        </p:txBody>
      </p:sp>
      <p:sp>
        <p:nvSpPr>
          <p:cNvPr id="19" name="Text 14"/>
          <p:cNvSpPr txBox="1"/>
          <p:nvPr/>
        </p:nvSpPr>
        <p:spPr>
          <a:xfrm>
            <a:off x="6507328" y="3474720"/>
            <a:ext cx="2064944"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Daños del Niño 1997-98; la morosidad subió de 7.3% a 9.3%</a:t>
            </a:r>
            <a:endParaRPr lang="en-US" sz="1500" dirty="0"/>
          </a:p>
        </p:txBody>
      </p:sp>
      <p:sp>
        <p:nvSpPr>
          <p:cNvPr id="20" name="Text 15"/>
          <p:cNvSpPr txBox="1"/>
          <p:nvPr/>
        </p:nvSpPr>
        <p:spPr>
          <a:xfrm>
            <a:off x="6507328" y="5029200"/>
            <a:ext cx="2110664" cy="50292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BCE págs. 9 y 10</a:t>
            </a:r>
            <a:endParaRPr lang="en-US" sz="1000" dirty="0"/>
          </a:p>
        </p:txBody>
      </p:sp>
      <p:sp>
        <p:nvSpPr>
          <p:cNvPr id="21" name="Tarjeta Nov – Mar"/>
          <p:cNvSpPr/>
          <p:nvPr/>
        </p:nvSpPr>
        <p:spPr>
          <a:xfrm>
            <a:off x="9075191" y="1463040"/>
            <a:ext cx="2567864" cy="4206240"/>
          </a:xfrm>
          <a:prstGeom prst="roundRect">
            <a:avLst>
              <a:gd name="adj" fmla="val 2849"/>
            </a:avLst>
          </a:prstGeom>
          <a:solidFill>
            <a:schemeClr val="bg2"/>
          </a:solidFill>
          <a:ln w="12700">
            <a:solidFill>
              <a:schemeClr val="bg2"/>
            </a:solidFill>
            <a:prstDash val="solid"/>
          </a:ln>
        </p:spPr>
      </p:sp>
      <p:sp>
        <p:nvSpPr>
          <p:cNvPr id="22" name="Ícono Nov – Mar círculo"/>
          <p:cNvSpPr/>
          <p:nvPr/>
        </p:nvSpPr>
        <p:spPr>
          <a:xfrm>
            <a:off x="9349511" y="1737360"/>
            <a:ext cx="822960" cy="822960"/>
          </a:xfrm>
          <a:prstGeom prst="ellipse">
            <a:avLst/>
          </a:prstGeom>
          <a:solidFill>
            <a:schemeClr val="accent1"/>
          </a:solidFill>
          <a:ln w="12700">
            <a:solidFill>
              <a:schemeClr val="accent1"/>
            </a:solidFill>
            <a:prstDash val="solid"/>
          </a:ln>
        </p:spPr>
      </p:sp>
      <p:pic>
        <p:nvPicPr>
          <p:cNvPr id="23" name="Ícono Nov – Mar" descr="preencoded.png">    </p:cNvPr>
          <p:cNvPicPr>
            <a:picLocks noChangeAspect="1"/>
          </p:cNvPicPr>
          <p:nvPr/>
        </p:nvPicPr>
        <p:blipFill>
          <a:blip r:embed="rId4"/>
          <a:stretch>
            <a:fillRect/>
          </a:stretch>
        </p:blipFill>
        <p:spPr>
          <a:xfrm>
            <a:off x="9530563" y="1918411"/>
            <a:ext cx="460858" cy="460858"/>
          </a:xfrm>
          <a:prstGeom prst="rect">
            <a:avLst/>
          </a:prstGeom>
        </p:spPr>
      </p:pic>
      <p:sp>
        <p:nvSpPr>
          <p:cNvPr id="24" name="Text 18"/>
          <p:cNvSpPr txBox="1"/>
          <p:nvPr/>
        </p:nvSpPr>
        <p:spPr>
          <a:xfrm>
            <a:off x="9349511" y="2743200"/>
            <a:ext cx="2110664" cy="6400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Nov – Mar</a:t>
            </a:r>
            <a:endParaRPr lang="en-US" sz="2400" dirty="0"/>
          </a:p>
        </p:txBody>
      </p:sp>
      <p:sp>
        <p:nvSpPr>
          <p:cNvPr id="25" name="Text 19"/>
          <p:cNvSpPr txBox="1"/>
          <p:nvPr/>
        </p:nvSpPr>
        <p:spPr>
          <a:xfrm>
            <a:off x="9349511" y="3474720"/>
            <a:ext cx="2064944" cy="14630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Mayor impacto entre noviembre de 2026 y marzo de 2027; el no pago llega meses después</a:t>
            </a:r>
            <a:endParaRPr lang="en-US" sz="1500" dirty="0"/>
          </a:p>
        </p:txBody>
      </p:sp>
      <p:sp>
        <p:nvSpPr>
          <p:cNvPr id="26" name="Text 20"/>
          <p:cNvSpPr txBox="1"/>
          <p:nvPr/>
        </p:nvSpPr>
        <p:spPr>
          <a:xfrm>
            <a:off x="9349511" y="5029200"/>
            <a:ext cx="2110664" cy="50292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ERFEN; BCE pág. 31</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1,529.8 MM expuestos con pérdida actual de 79.4 MM</a:t>
            </a:r>
            <a:endParaRPr lang="en-US" sz="3000" dirty="0"/>
          </a:p>
        </p:txBody>
      </p:sp>
      <p:graphicFrame>
        <p:nvGraphicFramePr>
          <p:cNvPr id="3" name="Gráfico saldo expuesto" descr=""/>
          <p:cNvGraphicFramePr/>
          <p:nvPr/>
        </p:nvGraphicFramePr>
        <p:xfrm>
          <a:off x="548640" y="1371600"/>
          <a:ext cx="493776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463040"/>
          <a:ext cx="5788152" cy="914400"/>
        </p:xfrm>
        <a:graphic>
          <a:graphicData uri="http://schemas.openxmlformats.org/drawingml/2006/table">
            <a:tbl>
              <a:tblPr/>
              <a:tblGrid>
                <a:gridCol w="1463040"/>
                <a:gridCol w="1051560"/>
                <a:gridCol w="1097280"/>
                <a:gridCol w="868680"/>
                <a:gridCol w="1307592"/>
              </a:tblGrid>
              <a:tr h="45720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Segmento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Saldo (MM)</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 del segmento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PI actual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Pérdida actual (MM)</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45720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Microfinanzas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449.2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9.8%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PYMES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334.0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22.0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Empresas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746.6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13.4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1,529.8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79.4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r>
            </a:tbl>
          </a:graphicData>
        </a:graphic>
      </p:graphicFrame>
      <p:sp>
        <p:nvSpPr>
          <p:cNvPr id="5" name="Fórmula pérdida actual"/>
          <p:cNvSpPr/>
          <p:nvPr/>
        </p:nvSpPr>
        <p:spPr>
          <a:xfrm>
            <a:off x="5852160" y="4023360"/>
            <a:ext cx="5788152" cy="1371600"/>
          </a:xfrm>
          <a:prstGeom prst="roundRect">
            <a:avLst>
              <a:gd name="adj" fmla="val 5333"/>
            </a:avLst>
          </a:prstGeom>
          <a:solidFill>
            <a:schemeClr val="bg2"/>
          </a:solidFill>
          <a:ln w="12700">
            <a:solidFill>
              <a:schemeClr val="bg2"/>
            </a:solidFill>
            <a:prstDash val="solid"/>
          </a:ln>
        </p:spPr>
      </p:sp>
      <p:sp>
        <p:nvSpPr>
          <p:cNvPr id="6" name="Ícono calculadora círculo"/>
          <p:cNvSpPr/>
          <p:nvPr/>
        </p:nvSpPr>
        <p:spPr>
          <a:xfrm>
            <a:off x="6080760" y="4343400"/>
            <a:ext cx="731520" cy="731520"/>
          </a:xfrm>
          <a:prstGeom prst="ellipse">
            <a:avLst/>
          </a:prstGeom>
          <a:solidFill>
            <a:schemeClr val="accent1"/>
          </a:solidFill>
          <a:ln w="12700">
            <a:solidFill>
              <a:schemeClr val="accent1"/>
            </a:solidFill>
            <a:prstDash val="solid"/>
          </a:ln>
        </p:spPr>
      </p:sp>
      <p:pic>
        <p:nvPicPr>
          <p:cNvPr id="7" name="Ícono calculadora" descr="preencoded.png">    </p:cNvPr>
          <p:cNvPicPr>
            <a:picLocks noChangeAspect="1"/>
          </p:cNvPicPr>
          <p:nvPr/>
        </p:nvPicPr>
        <p:blipFill>
          <a:blip r:embed="rId2"/>
          <a:stretch>
            <a:fillRect/>
          </a:stretch>
        </p:blipFill>
        <p:spPr>
          <a:xfrm>
            <a:off x="6241694" y="4504334"/>
            <a:ext cx="409651" cy="409651"/>
          </a:xfrm>
          <a:prstGeom prst="rect">
            <a:avLst/>
          </a:prstGeom>
        </p:spPr>
      </p:pic>
      <p:sp>
        <p:nvSpPr>
          <p:cNvPr id="8" name="Text 3"/>
          <p:cNvSpPr txBox="1"/>
          <p:nvPr/>
        </p:nvSpPr>
        <p:spPr>
          <a:xfrm>
            <a:off x="7040880" y="4160520"/>
            <a:ext cx="4434840" cy="109728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Pérdida actual = Saldo expuesto × PI actual</a:t>
            </a:r>
            <a:endParaRPr lang="en-US" sz="1400" dirty="0"/>
          </a:p>
          <a:p>
            <a:pPr indent="0" marL="0">
              <a:buNone/>
            </a:pPr>
            <a:r>
              <a:rPr lang="en-US" sz="1500" dirty="0">
                <a:solidFill>
                  <a:schemeClr val="tx1"/>
                </a:solidFill>
                <a:latin typeface="Calibri" pitchFamily="34" charset="0"/>
                <a:ea typeface="Calibri" pitchFamily="34" charset="-122"/>
                <a:cs typeface="Calibri" pitchFamily="34" charset="-120"/>
              </a:rPr>
              <a:t>Ejemplo micro: 449.2 × 9.8% = 44.0 MM</a:t>
            </a:r>
            <a:endParaRPr lang="en-US" sz="1400" dirty="0"/>
          </a:p>
        </p:txBody>
      </p:sp>
      <p:sp>
        <p:nvSpPr>
          <p:cNvPr id="9"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Zona: 142 cantones con influencia directa, sin Quito (lista de 143 cantones del BCE, pág. 11). Saldos y PI: láminas internas, corte agosto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De PE = PD × EAD × LGD a la pérdida por El Niño</a:t>
            </a:r>
            <a:endParaRPr lang="en-US" sz="3000" dirty="0"/>
          </a:p>
        </p:txBody>
      </p:sp>
      <p:sp>
        <p:nvSpPr>
          <p:cNvPr id="3" name="Paso 1"/>
          <p:cNvSpPr/>
          <p:nvPr/>
        </p:nvSpPr>
        <p:spPr>
          <a:xfrm>
            <a:off x="548640" y="1371600"/>
            <a:ext cx="11094415" cy="786384"/>
          </a:xfrm>
          <a:prstGeom prst="roundRect">
            <a:avLst>
              <a:gd name="adj" fmla="val 9302"/>
            </a:avLst>
          </a:prstGeom>
          <a:solidFill>
            <a:schemeClr val="bg2"/>
          </a:solidFill>
          <a:ln w="12700">
            <a:solidFill>
              <a:schemeClr val="bg2"/>
            </a:solidFill>
            <a:prstDash val="solid"/>
          </a:ln>
        </p:spPr>
      </p:sp>
      <p:sp>
        <p:nvSpPr>
          <p:cNvPr id="4" name="Número 1"/>
          <p:cNvSpPr/>
          <p:nvPr/>
        </p:nvSpPr>
        <p:spPr>
          <a:xfrm>
            <a:off x="731520" y="1536192"/>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536192"/>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417320" y="1417320"/>
            <a:ext cx="5760720" cy="694944"/>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PE = PD × EAD × LGD</a:t>
            </a:r>
            <a:endParaRPr lang="en-US" sz="1500" dirty="0"/>
          </a:p>
        </p:txBody>
      </p:sp>
      <p:sp>
        <p:nvSpPr>
          <p:cNvPr id="7" name="Text 5"/>
          <p:cNvSpPr txBox="1"/>
          <p:nvPr/>
        </p:nvSpPr>
        <p:spPr>
          <a:xfrm>
            <a:off x="6903720" y="1417320"/>
            <a:ext cx="4553712" cy="69494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Pérdida esperada: probabilidad de incumplimiento × exposición × severidad</a:t>
            </a:r>
            <a:endParaRPr lang="en-US" sz="1400" dirty="0"/>
          </a:p>
          <a:p>
            <a:pPr indent="0" marL="0">
              <a:buNone/>
            </a:pPr>
            <a:r>
              <a:rPr lang="en-US" sz="1100" i="1" dirty="0">
                <a:solidFill>
                  <a:schemeClr val="accent5"/>
                </a:solidFill>
                <a:latin typeface="Calibri" pitchFamily="34" charset="0"/>
                <a:ea typeface="Calibri" pitchFamily="34" charset="-122"/>
                <a:cs typeface="Calibri" pitchFamily="34" charset="-120"/>
              </a:rPr>
              <a:t>BCE págs. 35-36 (Basilea III)</a:t>
            </a:r>
            <a:endParaRPr lang="en-US" sz="1400" dirty="0"/>
          </a:p>
        </p:txBody>
      </p:sp>
      <p:sp>
        <p:nvSpPr>
          <p:cNvPr id="8" name="Paso 2"/>
          <p:cNvSpPr/>
          <p:nvPr/>
        </p:nvSpPr>
        <p:spPr>
          <a:xfrm>
            <a:off x="548640" y="2267712"/>
            <a:ext cx="11094415" cy="786384"/>
          </a:xfrm>
          <a:prstGeom prst="roundRect">
            <a:avLst>
              <a:gd name="adj" fmla="val 9302"/>
            </a:avLst>
          </a:prstGeom>
          <a:solidFill>
            <a:schemeClr val="bg2"/>
          </a:solidFill>
          <a:ln w="12700">
            <a:solidFill>
              <a:schemeClr val="bg2"/>
            </a:solidFill>
            <a:prstDash val="solid"/>
          </a:ln>
        </p:spPr>
      </p:sp>
      <p:sp>
        <p:nvSpPr>
          <p:cNvPr id="9" name="Número 2"/>
          <p:cNvSpPr/>
          <p:nvPr/>
        </p:nvSpPr>
        <p:spPr>
          <a:xfrm>
            <a:off x="731520" y="2432304"/>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731520" y="2432304"/>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417320" y="2313432"/>
            <a:ext cx="5760720" cy="694944"/>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PE / EAD = PD × LGD ≈ PI actual</a:t>
            </a:r>
            <a:endParaRPr lang="en-US" sz="1500" dirty="0"/>
          </a:p>
        </p:txBody>
      </p:sp>
      <p:sp>
        <p:nvSpPr>
          <p:cNvPr id="12" name="Text 10"/>
          <p:cNvSpPr txBox="1"/>
          <p:nvPr/>
        </p:nvSpPr>
        <p:spPr>
          <a:xfrm>
            <a:off x="6903720" y="2313432"/>
            <a:ext cx="4553712" cy="69494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Como tasa sobre el saldo, la pérdida es PD × LGD: nuestra PI ya la mide</a:t>
            </a:r>
            <a:endParaRPr lang="en-US" sz="1400" dirty="0"/>
          </a:p>
          <a:p>
            <a:pPr indent="0" marL="0">
              <a:buNone/>
            </a:pPr>
            <a:r>
              <a:rPr lang="en-US" sz="1100" i="1" dirty="0">
                <a:solidFill>
                  <a:schemeClr val="accent5"/>
                </a:solidFill>
                <a:latin typeface="Calibri" pitchFamily="34" charset="0"/>
                <a:ea typeface="Calibri" pitchFamily="34" charset="-122"/>
                <a:cs typeface="Calibri" pitchFamily="34" charset="-120"/>
              </a:rPr>
              <a:t>Moody's pág. 45; Hu y Perraudin pág. 3 · Saldo y PI: lámina 4</a:t>
            </a:r>
            <a:endParaRPr lang="en-US" sz="1400" dirty="0"/>
          </a:p>
        </p:txBody>
      </p:sp>
      <p:sp>
        <p:nvSpPr>
          <p:cNvPr id="13" name="Paso 3"/>
          <p:cNvSpPr/>
          <p:nvPr/>
        </p:nvSpPr>
        <p:spPr>
          <a:xfrm>
            <a:off x="548640" y="3163824"/>
            <a:ext cx="11094415" cy="786384"/>
          </a:xfrm>
          <a:prstGeom prst="roundRect">
            <a:avLst>
              <a:gd name="adj" fmla="val 9302"/>
            </a:avLst>
          </a:prstGeom>
          <a:solidFill>
            <a:schemeClr val="bg2"/>
          </a:solidFill>
          <a:ln w="12700">
            <a:solidFill>
              <a:schemeClr val="bg2"/>
            </a:solidFill>
            <a:prstDash val="solid"/>
          </a:ln>
        </p:spPr>
      </p:sp>
      <p:sp>
        <p:nvSpPr>
          <p:cNvPr id="14" name="Número 3"/>
          <p:cNvSpPr/>
          <p:nvPr/>
        </p:nvSpPr>
        <p:spPr>
          <a:xfrm>
            <a:off x="731520" y="3328416"/>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731520" y="332841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6" name="Text 14"/>
          <p:cNvSpPr txBox="1"/>
          <p:nvPr/>
        </p:nvSpPr>
        <p:spPr>
          <a:xfrm>
            <a:off x="1417320" y="3209544"/>
            <a:ext cx="5760720" cy="694944"/>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PD escenario = PD + ΔPD</a:t>
            </a:r>
            <a:endParaRPr lang="en-US" sz="1500" dirty="0"/>
          </a:p>
          <a:p>
            <a:pPr indent="0" marL="0">
              <a:buNone/>
            </a:pPr>
            <a:r>
              <a:rPr lang="en-US" sz="1500" b="1" dirty="0">
                <a:solidFill>
                  <a:schemeClr val="accent1"/>
                </a:solidFill>
                <a:latin typeface="Arial" pitchFamily="34" charset="0"/>
                <a:ea typeface="Arial" pitchFamily="34" charset="-122"/>
                <a:cs typeface="Arial" pitchFamily="34" charset="-120"/>
              </a:rPr>
              <a:t>LGD escenario = LGD</a:t>
            </a:r>
            <a:endParaRPr lang="en-US" sz="1500" dirty="0"/>
          </a:p>
        </p:txBody>
      </p:sp>
      <p:sp>
        <p:nvSpPr>
          <p:cNvPr id="17" name="Text 15"/>
          <p:cNvSpPr txBox="1"/>
          <p:nvPr/>
        </p:nvSpPr>
        <p:spPr>
          <a:xfrm>
            <a:off x="6903720" y="3209544"/>
            <a:ext cx="4553712" cy="69494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El BCE define la PD de cada escenario como "Base + pp" y mantiene la LGD</a:t>
            </a:r>
            <a:endParaRPr lang="en-US" sz="1400" dirty="0"/>
          </a:p>
          <a:p>
            <a:pPr indent="0" marL="0">
              <a:buNone/>
            </a:pPr>
            <a:r>
              <a:rPr lang="en-US" sz="1100" i="1" dirty="0">
                <a:solidFill>
                  <a:schemeClr val="accent5"/>
                </a:solidFill>
                <a:latin typeface="Calibri" pitchFamily="34" charset="0"/>
                <a:ea typeface="Calibri" pitchFamily="34" charset="-122"/>
                <a:cs typeface="Calibri" pitchFamily="34" charset="-120"/>
              </a:rPr>
              <a:t>BCE pág. 39, Tabla 9 · ΔPD se calcula en la lámina 8</a:t>
            </a:r>
            <a:endParaRPr lang="en-US" sz="1400" dirty="0"/>
          </a:p>
        </p:txBody>
      </p:sp>
      <p:sp>
        <p:nvSpPr>
          <p:cNvPr id="18" name="Paso 4"/>
          <p:cNvSpPr/>
          <p:nvPr/>
        </p:nvSpPr>
        <p:spPr>
          <a:xfrm>
            <a:off x="548640" y="4059936"/>
            <a:ext cx="11094415" cy="786384"/>
          </a:xfrm>
          <a:prstGeom prst="roundRect">
            <a:avLst>
              <a:gd name="adj" fmla="val 9302"/>
            </a:avLst>
          </a:prstGeom>
          <a:solidFill>
            <a:schemeClr val="bg2"/>
          </a:solidFill>
          <a:ln w="12700">
            <a:solidFill>
              <a:schemeClr val="bg2"/>
            </a:solidFill>
            <a:prstDash val="solid"/>
          </a:ln>
        </p:spPr>
      </p:sp>
      <p:sp>
        <p:nvSpPr>
          <p:cNvPr id="19" name="Número 4"/>
          <p:cNvSpPr/>
          <p:nvPr/>
        </p:nvSpPr>
        <p:spPr>
          <a:xfrm>
            <a:off x="731520" y="4224528"/>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731520" y="4224528"/>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4</a:t>
            </a:r>
            <a:endParaRPr lang="en-US" sz="1800" dirty="0"/>
          </a:p>
        </p:txBody>
      </p:sp>
      <p:sp>
        <p:nvSpPr>
          <p:cNvPr id="21" name="Text 19"/>
          <p:cNvSpPr txBox="1"/>
          <p:nvPr/>
        </p:nvSpPr>
        <p:spPr>
          <a:xfrm>
            <a:off x="1417320" y="4105656"/>
            <a:ext cx="5760720" cy="694944"/>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PE escenario = (PD + ΔPD) × EAD × LGD</a:t>
            </a:r>
            <a:endParaRPr lang="en-US" sz="1500" dirty="0"/>
          </a:p>
          <a:p>
            <a:pPr indent="0" marL="0">
              <a:buNone/>
            </a:pPr>
            <a:r>
              <a:rPr lang="en-US" sz="1500" b="1" dirty="0">
                <a:solidFill>
                  <a:schemeClr val="accent1"/>
                </a:solidFill>
                <a:latin typeface="Arial" pitchFamily="34" charset="0"/>
                <a:ea typeface="Arial" pitchFamily="34" charset="-122"/>
                <a:cs typeface="Arial" pitchFamily="34" charset="-120"/>
              </a:rPr>
              <a:t>= PD × EAD × LGD + ΔPD × EAD × LGD</a:t>
            </a:r>
            <a:endParaRPr lang="en-US" sz="1500" dirty="0"/>
          </a:p>
        </p:txBody>
      </p:sp>
      <p:sp>
        <p:nvSpPr>
          <p:cNvPr id="22" name="Text 20"/>
          <p:cNvSpPr txBox="1"/>
          <p:nvPr/>
        </p:nvSpPr>
        <p:spPr>
          <a:xfrm>
            <a:off x="6903720" y="4105656"/>
            <a:ext cx="4553712" cy="69494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 reemplaza en la fórmula y se distribuye la multiplicación</a:t>
            </a:r>
            <a:endParaRPr lang="en-US" sz="1400" dirty="0"/>
          </a:p>
          <a:p>
            <a:pPr indent="0" marL="0">
              <a:buNone/>
            </a:pPr>
            <a:r>
              <a:rPr lang="en-US" sz="1100" i="1" dirty="0">
                <a:solidFill>
                  <a:schemeClr val="accent5"/>
                </a:solidFill>
                <a:latin typeface="Calibri" pitchFamily="34" charset="0"/>
                <a:ea typeface="Calibri" pitchFamily="34" charset="-122"/>
                <a:cs typeface="Calibri" pitchFamily="34" charset="-120"/>
              </a:rPr>
              <a:t>Propiedad distributiva · LGD: lámina 9</a:t>
            </a:r>
            <a:endParaRPr lang="en-US" sz="1400" dirty="0"/>
          </a:p>
        </p:txBody>
      </p:sp>
      <p:sp>
        <p:nvSpPr>
          <p:cNvPr id="23" name="Paso 5"/>
          <p:cNvSpPr/>
          <p:nvPr/>
        </p:nvSpPr>
        <p:spPr>
          <a:xfrm>
            <a:off x="548640" y="4956048"/>
            <a:ext cx="11094415" cy="786384"/>
          </a:xfrm>
          <a:prstGeom prst="roundRect">
            <a:avLst>
              <a:gd name="adj" fmla="val 9302"/>
            </a:avLst>
          </a:prstGeom>
          <a:solidFill>
            <a:schemeClr val="accent1"/>
          </a:solidFill>
          <a:ln w="12700">
            <a:solidFill>
              <a:schemeClr val="accent1"/>
            </a:solidFill>
            <a:prstDash val="solid"/>
          </a:ln>
        </p:spPr>
      </p:sp>
      <p:sp>
        <p:nvSpPr>
          <p:cNvPr id="24" name="Número 5"/>
          <p:cNvSpPr/>
          <p:nvPr/>
        </p:nvSpPr>
        <p:spPr>
          <a:xfrm>
            <a:off x="731520" y="512064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731520" y="512064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5</a:t>
            </a:r>
            <a:endParaRPr lang="en-US" sz="1800" dirty="0"/>
          </a:p>
        </p:txBody>
      </p:sp>
      <p:sp>
        <p:nvSpPr>
          <p:cNvPr id="26" name="Text 24"/>
          <p:cNvSpPr txBox="1"/>
          <p:nvPr/>
        </p:nvSpPr>
        <p:spPr>
          <a:xfrm>
            <a:off x="1417320" y="5001768"/>
            <a:ext cx="5760720" cy="694944"/>
          </a:xfrm>
          <a:prstGeom prst="rect">
            <a:avLst/>
          </a:prstGeom>
          <a:noFill/>
          <a:ln/>
        </p:spPr>
        <p:txBody>
          <a:bodyPr wrap="square" lIns="0" tIns="0" rIns="0" bIns="0" rtlCol="0" anchor="ctr"/>
          <a:lstStyle/>
          <a:p>
            <a:pPr indent="0" marL="0">
              <a:buNone/>
            </a:pPr>
            <a:r>
              <a:rPr lang="en-US" sz="1500" b="1" dirty="0">
                <a:solidFill>
                  <a:schemeClr val="bg1"/>
                </a:solidFill>
                <a:latin typeface="Arial" pitchFamily="34" charset="0"/>
                <a:ea typeface="Arial" pitchFamily="34" charset="-122"/>
                <a:cs typeface="Arial" pitchFamily="34" charset="-120"/>
              </a:rPr>
              <a:t>Pérdida El Niño = Pérdida actual + Saldo × ΔPI</a:t>
            </a:r>
            <a:endParaRPr lang="en-US" sz="1500" dirty="0"/>
          </a:p>
          <a:p>
            <a:pPr indent="0" marL="0">
              <a:buNone/>
            </a:pPr>
            <a:r>
              <a:rPr lang="en-US" sz="1500" b="1" dirty="0">
                <a:solidFill>
                  <a:schemeClr val="bg1"/>
                </a:solidFill>
                <a:latin typeface="Arial" pitchFamily="34" charset="0"/>
                <a:ea typeface="Arial" pitchFamily="34" charset="-122"/>
                <a:cs typeface="Arial" pitchFamily="34" charset="-120"/>
              </a:rPr>
              <a:t>con ΔPI = ΔPD × LGD</a:t>
            </a:r>
            <a:endParaRPr lang="en-US" sz="1500" dirty="0"/>
          </a:p>
        </p:txBody>
      </p:sp>
      <p:sp>
        <p:nvSpPr>
          <p:cNvPr id="27" name="Text 25"/>
          <p:cNvSpPr txBox="1"/>
          <p:nvPr/>
        </p:nvSpPr>
        <p:spPr>
          <a:xfrm>
            <a:off x="6903720" y="5001768"/>
            <a:ext cx="4553712" cy="694944"/>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Primer término: la pérdida de hoy. Segundo: lo que agrega El Niño</a:t>
            </a:r>
            <a:endParaRPr lang="en-US" sz="1400" dirty="0"/>
          </a:p>
          <a:p>
            <a:pPr indent="0" marL="0">
              <a:buNone/>
            </a:pPr>
            <a:r>
              <a:rPr lang="en-US" sz="1100" i="1" dirty="0">
                <a:solidFill>
                  <a:schemeClr val="bg2"/>
                </a:solidFill>
                <a:latin typeface="Calibri" pitchFamily="34" charset="0"/>
                <a:ea typeface="Calibri" pitchFamily="34" charset="-122"/>
                <a:cs typeface="Calibri" pitchFamily="34" charset="-120"/>
              </a:rPr>
              <a:t>Empresas usa un factor: lámina 10 · Uso con números: láminas 11 y 12</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La tasa de pérdida equivale a PD × LGD</a:t>
            </a:r>
            <a:endParaRPr lang="en-US" sz="3000" dirty="0"/>
          </a:p>
        </p:txBody>
      </p:sp>
      <p:sp>
        <p:nvSpPr>
          <p:cNvPr id="3" name="Fuente BCE (2024)"/>
          <p:cNvSpPr/>
          <p:nvPr/>
        </p:nvSpPr>
        <p:spPr>
          <a:xfrm>
            <a:off x="548640" y="1417320"/>
            <a:ext cx="3515258" cy="3931920"/>
          </a:xfrm>
          <a:prstGeom prst="roundRect">
            <a:avLst>
              <a:gd name="adj" fmla="val 2081"/>
            </a:avLst>
          </a:prstGeom>
          <a:solidFill>
            <a:schemeClr val="bg2"/>
          </a:solidFill>
          <a:ln w="12700">
            <a:solidFill>
              <a:schemeClr val="bg2"/>
            </a:solidFill>
            <a:prstDash val="solid"/>
          </a:ln>
        </p:spPr>
      </p:sp>
      <p:sp>
        <p:nvSpPr>
          <p:cNvPr id="4" name="Ícono BCE (2024) círculo"/>
          <p:cNvSpPr/>
          <p:nvPr/>
        </p:nvSpPr>
        <p:spPr>
          <a:xfrm>
            <a:off x="777240" y="1645920"/>
            <a:ext cx="640080" cy="640080"/>
          </a:xfrm>
          <a:prstGeom prst="ellipse">
            <a:avLst/>
          </a:prstGeom>
          <a:solidFill>
            <a:schemeClr val="accent1"/>
          </a:solidFill>
          <a:ln w="12700">
            <a:solidFill>
              <a:schemeClr val="accent1"/>
            </a:solidFill>
            <a:prstDash val="solid"/>
          </a:ln>
        </p:spPr>
      </p:sp>
      <p:pic>
        <p:nvPicPr>
          <p:cNvPr id="5" name="Ícono BCE (2024)" descr="preencoded.png">    </p:cNvPr>
          <p:cNvPicPr>
            <a:picLocks noChangeAspect="1"/>
          </p:cNvPicPr>
          <p:nvPr/>
        </p:nvPicPr>
        <p:blipFill>
          <a:blip r:embed="rId1"/>
          <a:stretch>
            <a:fillRect/>
          </a:stretch>
        </p:blipFill>
        <p:spPr>
          <a:xfrm>
            <a:off x="918058" y="1786738"/>
            <a:ext cx="358445" cy="358445"/>
          </a:xfrm>
          <a:prstGeom prst="rect">
            <a:avLst/>
          </a:prstGeom>
        </p:spPr>
      </p:pic>
      <p:sp>
        <p:nvSpPr>
          <p:cNvPr id="6" name="Text 3"/>
          <p:cNvSpPr txBox="1"/>
          <p:nvPr/>
        </p:nvSpPr>
        <p:spPr>
          <a:xfrm>
            <a:off x="1554480" y="1645920"/>
            <a:ext cx="2326538" cy="36576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BCE (2024)</a:t>
            </a:r>
            <a:endParaRPr lang="en-US" sz="1700" dirty="0"/>
          </a:p>
        </p:txBody>
      </p:sp>
      <p:sp>
        <p:nvSpPr>
          <p:cNvPr id="7" name="Text 4"/>
          <p:cNvSpPr txBox="1"/>
          <p:nvPr/>
        </p:nvSpPr>
        <p:spPr>
          <a:xfrm>
            <a:off x="1554480" y="2011680"/>
            <a:ext cx="2326538"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Págs. 35-36 y Tabla 9 (pág. 39)</a:t>
            </a:r>
            <a:endParaRPr lang="en-US" sz="1300" dirty="0"/>
          </a:p>
        </p:txBody>
      </p:sp>
      <p:sp>
        <p:nvSpPr>
          <p:cNvPr id="8" name="Text 5"/>
          <p:cNvSpPr txBox="1"/>
          <p:nvPr/>
        </p:nvSpPr>
        <p:spPr>
          <a:xfrm>
            <a:off x="777240" y="2560320"/>
            <a:ext cx="3058058" cy="192024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Pérdida esperada según Basilea III; en los escenarios la LGD "se mantiene igual al escenario base"</a:t>
            </a:r>
            <a:endParaRPr lang="en-US" sz="1400" dirty="0"/>
          </a:p>
        </p:txBody>
      </p:sp>
      <p:sp>
        <p:nvSpPr>
          <p:cNvPr id="9" name="Text 6"/>
          <p:cNvSpPr txBox="1"/>
          <p:nvPr/>
        </p:nvSpPr>
        <p:spPr>
          <a:xfrm>
            <a:off x="777240" y="4617720"/>
            <a:ext cx="3058058" cy="50292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PE = PD × EAD × LGD</a:t>
            </a:r>
            <a:endParaRPr lang="en-US" sz="1600" dirty="0"/>
          </a:p>
        </p:txBody>
      </p:sp>
      <p:sp>
        <p:nvSpPr>
          <p:cNvPr id="10" name="Fuente Moody's (2007)"/>
          <p:cNvSpPr/>
          <p:nvPr/>
        </p:nvSpPr>
        <p:spPr>
          <a:xfrm>
            <a:off x="4338218" y="1417320"/>
            <a:ext cx="3515258" cy="3931920"/>
          </a:xfrm>
          <a:prstGeom prst="roundRect">
            <a:avLst>
              <a:gd name="adj" fmla="val 2081"/>
            </a:avLst>
          </a:prstGeom>
          <a:solidFill>
            <a:schemeClr val="bg2"/>
          </a:solidFill>
          <a:ln w="12700">
            <a:solidFill>
              <a:schemeClr val="bg2"/>
            </a:solidFill>
            <a:prstDash val="solid"/>
          </a:ln>
        </p:spPr>
      </p:sp>
      <p:sp>
        <p:nvSpPr>
          <p:cNvPr id="11" name="Ícono Moody's (2007) círculo"/>
          <p:cNvSpPr/>
          <p:nvPr/>
        </p:nvSpPr>
        <p:spPr>
          <a:xfrm>
            <a:off x="4566818" y="1645920"/>
            <a:ext cx="640080" cy="640080"/>
          </a:xfrm>
          <a:prstGeom prst="ellipse">
            <a:avLst/>
          </a:prstGeom>
          <a:solidFill>
            <a:schemeClr val="accent1"/>
          </a:solidFill>
          <a:ln w="12700">
            <a:solidFill>
              <a:schemeClr val="accent1"/>
            </a:solidFill>
            <a:prstDash val="solid"/>
          </a:ln>
        </p:spPr>
      </p:sp>
      <p:pic>
        <p:nvPicPr>
          <p:cNvPr id="12" name="Ícono Moody's (2007)" descr="preencoded.png">    </p:cNvPr>
          <p:cNvPicPr>
            <a:picLocks noChangeAspect="1"/>
          </p:cNvPicPr>
          <p:nvPr/>
        </p:nvPicPr>
        <p:blipFill>
          <a:blip r:embed="rId2"/>
          <a:stretch>
            <a:fillRect/>
          </a:stretch>
        </p:blipFill>
        <p:spPr>
          <a:xfrm>
            <a:off x="4707636" y="1786738"/>
            <a:ext cx="358445" cy="358445"/>
          </a:xfrm>
          <a:prstGeom prst="rect">
            <a:avLst/>
          </a:prstGeom>
        </p:spPr>
      </p:pic>
      <p:sp>
        <p:nvSpPr>
          <p:cNvPr id="13" name="Text 9"/>
          <p:cNvSpPr txBox="1"/>
          <p:nvPr/>
        </p:nvSpPr>
        <p:spPr>
          <a:xfrm>
            <a:off x="5344058" y="1645920"/>
            <a:ext cx="2326538" cy="36576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Moody's (2007)</a:t>
            </a:r>
            <a:endParaRPr lang="en-US" sz="1700" dirty="0"/>
          </a:p>
        </p:txBody>
      </p:sp>
      <p:sp>
        <p:nvSpPr>
          <p:cNvPr id="14" name="Text 10"/>
          <p:cNvSpPr txBox="1"/>
          <p:nvPr/>
        </p:nvSpPr>
        <p:spPr>
          <a:xfrm>
            <a:off x="5344058" y="2011680"/>
            <a:ext cx="2326538"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Pág. 45</a:t>
            </a:r>
            <a:endParaRPr lang="en-US" sz="1300" dirty="0"/>
          </a:p>
        </p:txBody>
      </p:sp>
      <p:sp>
        <p:nvSpPr>
          <p:cNvPr id="15" name="Text 11"/>
          <p:cNvSpPr txBox="1"/>
          <p:nvPr/>
        </p:nvSpPr>
        <p:spPr>
          <a:xfrm>
            <a:off x="4566818" y="2560320"/>
            <a:ext cx="3058058" cy="192024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"Credit losses are therefore a function of both probability of default (PD) as well as the severity of default (LGD)."</a:t>
            </a:r>
            <a:endParaRPr lang="en-US" sz="1400" dirty="0"/>
          </a:p>
        </p:txBody>
      </p:sp>
      <p:sp>
        <p:nvSpPr>
          <p:cNvPr id="16" name="Text 12"/>
          <p:cNvSpPr txBox="1"/>
          <p:nvPr/>
        </p:nvSpPr>
        <p:spPr>
          <a:xfrm>
            <a:off x="4566818" y="4617720"/>
            <a:ext cx="3058058" cy="50292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Tasa de pérdida = D × (1 − r)</a:t>
            </a:r>
            <a:endParaRPr lang="en-US" sz="1600" dirty="0"/>
          </a:p>
        </p:txBody>
      </p:sp>
      <p:sp>
        <p:nvSpPr>
          <p:cNvPr id="17" name="Fuente Hu y Perraudin (2006)"/>
          <p:cNvSpPr/>
          <p:nvPr/>
        </p:nvSpPr>
        <p:spPr>
          <a:xfrm>
            <a:off x="8127797" y="1417320"/>
            <a:ext cx="3515258" cy="3931920"/>
          </a:xfrm>
          <a:prstGeom prst="roundRect">
            <a:avLst>
              <a:gd name="adj" fmla="val 2081"/>
            </a:avLst>
          </a:prstGeom>
          <a:solidFill>
            <a:schemeClr val="bg2"/>
          </a:solidFill>
          <a:ln w="12700">
            <a:solidFill>
              <a:schemeClr val="bg2"/>
            </a:solidFill>
            <a:prstDash val="solid"/>
          </a:ln>
        </p:spPr>
      </p:sp>
      <p:sp>
        <p:nvSpPr>
          <p:cNvPr id="18" name="Ícono Hu y Perraudin (2006) círculo"/>
          <p:cNvSpPr/>
          <p:nvPr/>
        </p:nvSpPr>
        <p:spPr>
          <a:xfrm>
            <a:off x="8356397" y="1645920"/>
            <a:ext cx="640080" cy="640080"/>
          </a:xfrm>
          <a:prstGeom prst="ellipse">
            <a:avLst/>
          </a:prstGeom>
          <a:solidFill>
            <a:schemeClr val="accent1"/>
          </a:solidFill>
          <a:ln w="12700">
            <a:solidFill>
              <a:schemeClr val="accent1"/>
            </a:solidFill>
            <a:prstDash val="solid"/>
          </a:ln>
        </p:spPr>
      </p:sp>
      <p:pic>
        <p:nvPicPr>
          <p:cNvPr id="19" name="Ícono Hu y Perraudin (2006)" descr="preencoded.png">    </p:cNvPr>
          <p:cNvPicPr>
            <a:picLocks noChangeAspect="1"/>
          </p:cNvPicPr>
          <p:nvPr/>
        </p:nvPicPr>
        <p:blipFill>
          <a:blip r:embed="rId3"/>
          <a:stretch>
            <a:fillRect/>
          </a:stretch>
        </p:blipFill>
        <p:spPr>
          <a:xfrm>
            <a:off x="8497214" y="1786738"/>
            <a:ext cx="358445" cy="358445"/>
          </a:xfrm>
          <a:prstGeom prst="rect">
            <a:avLst/>
          </a:prstGeom>
        </p:spPr>
      </p:pic>
      <p:sp>
        <p:nvSpPr>
          <p:cNvPr id="20" name="Text 15"/>
          <p:cNvSpPr txBox="1"/>
          <p:nvPr/>
        </p:nvSpPr>
        <p:spPr>
          <a:xfrm>
            <a:off x="9133637" y="1645920"/>
            <a:ext cx="2326538" cy="36576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Hu y Perraudin (2006)</a:t>
            </a:r>
            <a:endParaRPr lang="en-US" sz="1700" dirty="0"/>
          </a:p>
        </p:txBody>
      </p:sp>
      <p:sp>
        <p:nvSpPr>
          <p:cNvPr id="21" name="Text 16"/>
          <p:cNvSpPr txBox="1"/>
          <p:nvPr/>
        </p:nvSpPr>
        <p:spPr>
          <a:xfrm>
            <a:off x="9133637" y="2011680"/>
            <a:ext cx="2326538"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Pág. 3 y ecuación 5.1 (pág. 11)</a:t>
            </a:r>
            <a:endParaRPr lang="en-US" sz="1300" dirty="0"/>
          </a:p>
        </p:txBody>
      </p:sp>
      <p:sp>
        <p:nvSpPr>
          <p:cNvPr id="22" name="Text 17"/>
          <p:cNvSpPr txBox="1"/>
          <p:nvPr/>
        </p:nvSpPr>
        <p:spPr>
          <a:xfrm>
            <a:off x="8356397" y="2560320"/>
            <a:ext cx="3058058" cy="192024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"We define total credit losses as the default rate in the quarter times one minus the average recovery rate in the quarter."</a:t>
            </a:r>
            <a:endParaRPr lang="en-US" sz="1400" dirty="0"/>
          </a:p>
        </p:txBody>
      </p:sp>
      <p:sp>
        <p:nvSpPr>
          <p:cNvPr id="23" name="Text 18"/>
          <p:cNvSpPr txBox="1"/>
          <p:nvPr/>
        </p:nvSpPr>
        <p:spPr>
          <a:xfrm>
            <a:off x="8356397" y="4617720"/>
            <a:ext cx="3058058" cy="50292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L = D × (1 − R)</a:t>
            </a:r>
            <a:endParaRPr lang="en-US" sz="1600" dirty="0"/>
          </a:p>
        </p:txBody>
      </p:sp>
      <p:sp>
        <p:nvSpPr>
          <p:cNvPr id="24" name="Text 19"/>
          <p:cNvSpPr txBox="1"/>
          <p:nvPr/>
        </p:nvSpPr>
        <p:spPr>
          <a:xfrm>
            <a:off x="548640" y="5486400"/>
            <a:ext cx="11094415" cy="45720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Además: </a:t>
            </a:r>
            <a:pPr indent="0" marL="0">
              <a:buNone/>
            </a:pPr>
            <a:r>
              <a:rPr lang="en-US" sz="1300" dirty="0">
                <a:solidFill>
                  <a:schemeClr val="tx1"/>
                </a:solidFill>
                <a:latin typeface="Calibri" pitchFamily="34" charset="0"/>
                <a:ea typeface="Calibri" pitchFamily="34" charset="-122"/>
                <a:cs typeface="Calibri" pitchFamily="34" charset="-120"/>
              </a:rPr>
              <a:t>NIIF 9, ejemplo ilustrativo 9 (IE53), mide la pérdida esperada con una tasa de pérdida, sin PD explícita. (1 − recuperación) es la LGD (Hu y Perraudin, pág. 4).</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Ejemplo micro: los dos caminos dan 15.5%</a:t>
            </a:r>
            <a:endParaRPr lang="en-US" sz="3000" dirty="0"/>
          </a:p>
        </p:txBody>
      </p:sp>
      <p:sp>
        <p:nvSpPr>
          <p:cNvPr id="3" name="Camino 1: con la PD explícita"/>
          <p:cNvSpPr/>
          <p:nvPr/>
        </p:nvSpPr>
        <p:spPr>
          <a:xfrm>
            <a:off x="548640" y="1371600"/>
            <a:ext cx="5410048" cy="3657600"/>
          </a:xfrm>
          <a:prstGeom prst="roundRect">
            <a:avLst>
              <a:gd name="adj" fmla="val 2000"/>
            </a:avLst>
          </a:prstGeom>
          <a:solidFill>
            <a:schemeClr val="bg2"/>
          </a:solidFill>
          <a:ln w="12700">
            <a:solidFill>
              <a:schemeClr val="bg2"/>
            </a:solidFill>
            <a:prstDash val="solid"/>
          </a:ln>
        </p:spPr>
      </p:sp>
      <p:sp>
        <p:nvSpPr>
          <p:cNvPr id="4" name="Text 2"/>
          <p:cNvSpPr txBox="1"/>
          <p:nvPr/>
        </p:nvSpPr>
        <p:spPr>
          <a:xfrm>
            <a:off x="822960" y="1508760"/>
            <a:ext cx="4861408" cy="457200"/>
          </a:xfrm>
          <a:prstGeom prst="rect">
            <a:avLst/>
          </a:prstGeom>
          <a:noFill/>
          <a:ln/>
        </p:spPr>
        <p:txBody>
          <a:bodyPr wrap="square" lIns="0" tIns="0" rIns="0" bIns="0" rtlCol="0" anchor="ctr"/>
          <a:lstStyle/>
          <a:p>
            <a:pPr indent="0" marL="0">
              <a:buNone/>
            </a:pPr>
            <a:r>
              <a:rPr lang="en-US" sz="1700" b="1" dirty="0">
                <a:solidFill>
                  <a:schemeClr val="accent1"/>
                </a:solidFill>
                <a:latin typeface="Arial" pitchFamily="34" charset="0"/>
                <a:ea typeface="Arial" pitchFamily="34" charset="-122"/>
                <a:cs typeface="Arial" pitchFamily="34" charset="-120"/>
              </a:rPr>
              <a:t>Camino 1: con la PD explícita</a:t>
            </a:r>
            <a:endParaRPr lang="en-US" sz="1700" dirty="0"/>
          </a:p>
        </p:txBody>
      </p:sp>
      <p:sp>
        <p:nvSpPr>
          <p:cNvPr id="5" name="Número 1"/>
          <p:cNvSpPr/>
          <p:nvPr/>
        </p:nvSpPr>
        <p:spPr>
          <a:xfrm>
            <a:off x="822960" y="2221992"/>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822960" y="2221992"/>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417320" y="2148840"/>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PD actual implícita</a:t>
            </a:r>
            <a:endParaRPr lang="en-US" sz="1400" dirty="0"/>
          </a:p>
        </p:txBody>
      </p:sp>
      <p:sp>
        <p:nvSpPr>
          <p:cNvPr id="8" name="Text 6"/>
          <p:cNvSpPr txBox="1"/>
          <p:nvPr/>
        </p:nvSpPr>
        <p:spPr>
          <a:xfrm>
            <a:off x="3108960" y="2148840"/>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9.8% / 70% = 14.0%</a:t>
            </a:r>
            <a:endParaRPr lang="en-US" sz="1500" dirty="0"/>
          </a:p>
        </p:txBody>
      </p:sp>
      <p:sp>
        <p:nvSpPr>
          <p:cNvPr id="9" name="Número 2"/>
          <p:cNvSpPr/>
          <p:nvPr/>
        </p:nvSpPr>
        <p:spPr>
          <a:xfrm>
            <a:off x="822960" y="2916936"/>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822960" y="2916936"/>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417320" y="2843784"/>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PD escenario</a:t>
            </a:r>
            <a:endParaRPr lang="en-US" sz="1400" dirty="0"/>
          </a:p>
        </p:txBody>
      </p:sp>
      <p:sp>
        <p:nvSpPr>
          <p:cNvPr id="12" name="Text 10"/>
          <p:cNvSpPr txBox="1"/>
          <p:nvPr/>
        </p:nvSpPr>
        <p:spPr>
          <a:xfrm>
            <a:off x="3108960" y="2843784"/>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14.0% + 8.1 pp = 22.1%</a:t>
            </a:r>
            <a:endParaRPr lang="en-US" sz="1500" dirty="0"/>
          </a:p>
        </p:txBody>
      </p:sp>
      <p:sp>
        <p:nvSpPr>
          <p:cNvPr id="13" name="Número 3"/>
          <p:cNvSpPr/>
          <p:nvPr/>
        </p:nvSpPr>
        <p:spPr>
          <a:xfrm>
            <a:off x="822960" y="3611880"/>
            <a:ext cx="411480" cy="411480"/>
          </a:xfrm>
          <a:prstGeom prst="ellipse">
            <a:avLst/>
          </a:prstGeom>
          <a:solidFill>
            <a:schemeClr val="accent1"/>
          </a:solidFill>
          <a:ln w="12700">
            <a:solidFill>
              <a:schemeClr val="accent1"/>
            </a:solidFill>
            <a:prstDash val="solid"/>
          </a:ln>
        </p:spPr>
      </p:sp>
      <p:sp>
        <p:nvSpPr>
          <p:cNvPr id="14" name="Text 12"/>
          <p:cNvSpPr txBox="1"/>
          <p:nvPr/>
        </p:nvSpPr>
        <p:spPr>
          <a:xfrm>
            <a:off x="822960" y="361188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5" name="Text 13"/>
          <p:cNvSpPr txBox="1"/>
          <p:nvPr/>
        </p:nvSpPr>
        <p:spPr>
          <a:xfrm>
            <a:off x="1417320" y="3538728"/>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Tasa de pérdida</a:t>
            </a:r>
            <a:endParaRPr lang="en-US" sz="1400" dirty="0"/>
          </a:p>
        </p:txBody>
      </p:sp>
      <p:sp>
        <p:nvSpPr>
          <p:cNvPr id="16" name="Text 14"/>
          <p:cNvSpPr txBox="1"/>
          <p:nvPr/>
        </p:nvSpPr>
        <p:spPr>
          <a:xfrm>
            <a:off x="3108960" y="3538728"/>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22.1% × 70% = 15.5%</a:t>
            </a:r>
            <a:endParaRPr lang="en-US" sz="1500" dirty="0"/>
          </a:p>
        </p:txBody>
      </p:sp>
      <p:sp>
        <p:nvSpPr>
          <p:cNvPr id="17" name="Número 4"/>
          <p:cNvSpPr/>
          <p:nvPr/>
        </p:nvSpPr>
        <p:spPr>
          <a:xfrm>
            <a:off x="822960" y="4306824"/>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822960" y="4306824"/>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19" name="Text 17"/>
          <p:cNvSpPr txBox="1"/>
          <p:nvPr/>
        </p:nvSpPr>
        <p:spPr>
          <a:xfrm>
            <a:off x="1417320" y="4233672"/>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Pérdida El Niño</a:t>
            </a:r>
            <a:endParaRPr lang="en-US" sz="1400" dirty="0"/>
          </a:p>
        </p:txBody>
      </p:sp>
      <p:sp>
        <p:nvSpPr>
          <p:cNvPr id="20" name="Text 18"/>
          <p:cNvSpPr txBox="1"/>
          <p:nvPr/>
        </p:nvSpPr>
        <p:spPr>
          <a:xfrm>
            <a:off x="3108960" y="4233672"/>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449.2 × 15.5% = 69.6 MM</a:t>
            </a:r>
            <a:endParaRPr lang="en-US" sz="1500" dirty="0"/>
          </a:p>
        </p:txBody>
      </p:sp>
      <p:sp>
        <p:nvSpPr>
          <p:cNvPr id="21" name="Camino 2: la PI como base (el que usamos)"/>
          <p:cNvSpPr/>
          <p:nvPr/>
        </p:nvSpPr>
        <p:spPr>
          <a:xfrm>
            <a:off x="6233008" y="1371600"/>
            <a:ext cx="5410048" cy="3657600"/>
          </a:xfrm>
          <a:prstGeom prst="roundRect">
            <a:avLst>
              <a:gd name="adj" fmla="val 2000"/>
            </a:avLst>
          </a:prstGeom>
          <a:solidFill>
            <a:schemeClr val="bg2"/>
          </a:solidFill>
          <a:ln w="12700">
            <a:solidFill>
              <a:schemeClr val="bg2"/>
            </a:solidFill>
            <a:prstDash val="solid"/>
          </a:ln>
        </p:spPr>
      </p:sp>
      <p:sp>
        <p:nvSpPr>
          <p:cNvPr id="22" name="Text 20"/>
          <p:cNvSpPr txBox="1"/>
          <p:nvPr/>
        </p:nvSpPr>
        <p:spPr>
          <a:xfrm>
            <a:off x="6507328" y="1508760"/>
            <a:ext cx="4861408" cy="457200"/>
          </a:xfrm>
          <a:prstGeom prst="rect">
            <a:avLst/>
          </a:prstGeom>
          <a:noFill/>
          <a:ln/>
        </p:spPr>
        <p:txBody>
          <a:bodyPr wrap="square" lIns="0" tIns="0" rIns="0" bIns="0" rtlCol="0" anchor="ctr"/>
          <a:lstStyle/>
          <a:p>
            <a:pPr indent="0" marL="0">
              <a:buNone/>
            </a:pPr>
            <a:r>
              <a:rPr lang="en-US" sz="1700" b="1" dirty="0">
                <a:solidFill>
                  <a:schemeClr val="accent1"/>
                </a:solidFill>
                <a:latin typeface="Arial" pitchFamily="34" charset="0"/>
                <a:ea typeface="Arial" pitchFamily="34" charset="-122"/>
                <a:cs typeface="Arial" pitchFamily="34" charset="-120"/>
              </a:rPr>
              <a:t>Camino 2: la PI como base (el que usamos)</a:t>
            </a:r>
            <a:endParaRPr lang="en-US" sz="1700" dirty="0"/>
          </a:p>
        </p:txBody>
      </p:sp>
      <p:sp>
        <p:nvSpPr>
          <p:cNvPr id="23" name="Número 1"/>
          <p:cNvSpPr/>
          <p:nvPr/>
        </p:nvSpPr>
        <p:spPr>
          <a:xfrm>
            <a:off x="6507328" y="2221992"/>
            <a:ext cx="411480" cy="411480"/>
          </a:xfrm>
          <a:prstGeom prst="ellipse">
            <a:avLst/>
          </a:prstGeom>
          <a:solidFill>
            <a:schemeClr val="accent1"/>
          </a:solidFill>
          <a:ln w="12700">
            <a:solidFill>
              <a:schemeClr val="accent1"/>
            </a:solidFill>
            <a:prstDash val="solid"/>
          </a:ln>
        </p:spPr>
      </p:sp>
      <p:sp>
        <p:nvSpPr>
          <p:cNvPr id="24" name="Text 22"/>
          <p:cNvSpPr txBox="1"/>
          <p:nvPr/>
        </p:nvSpPr>
        <p:spPr>
          <a:xfrm>
            <a:off x="6507328" y="2221992"/>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25" name="Text 23"/>
          <p:cNvSpPr txBox="1"/>
          <p:nvPr/>
        </p:nvSpPr>
        <p:spPr>
          <a:xfrm>
            <a:off x="7101688" y="2148840"/>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Pérdida actual</a:t>
            </a:r>
            <a:endParaRPr lang="en-US" sz="1400" dirty="0"/>
          </a:p>
        </p:txBody>
      </p:sp>
      <p:sp>
        <p:nvSpPr>
          <p:cNvPr id="26" name="Text 24"/>
          <p:cNvSpPr txBox="1"/>
          <p:nvPr/>
        </p:nvSpPr>
        <p:spPr>
          <a:xfrm>
            <a:off x="8793328" y="2148840"/>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449.2 × 9.8% = 44.0 MM</a:t>
            </a:r>
            <a:endParaRPr lang="en-US" sz="1500" dirty="0"/>
          </a:p>
        </p:txBody>
      </p:sp>
      <p:sp>
        <p:nvSpPr>
          <p:cNvPr id="27" name="Número 2"/>
          <p:cNvSpPr/>
          <p:nvPr/>
        </p:nvSpPr>
        <p:spPr>
          <a:xfrm>
            <a:off x="6507328" y="2916936"/>
            <a:ext cx="411480" cy="411480"/>
          </a:xfrm>
          <a:prstGeom prst="ellipse">
            <a:avLst/>
          </a:prstGeom>
          <a:solidFill>
            <a:schemeClr val="accent1"/>
          </a:solidFill>
          <a:ln w="12700">
            <a:solidFill>
              <a:schemeClr val="accent1"/>
            </a:solidFill>
            <a:prstDash val="solid"/>
          </a:ln>
        </p:spPr>
      </p:sp>
      <p:sp>
        <p:nvSpPr>
          <p:cNvPr id="28" name="Text 26"/>
          <p:cNvSpPr txBox="1"/>
          <p:nvPr/>
        </p:nvSpPr>
        <p:spPr>
          <a:xfrm>
            <a:off x="6507328" y="2916936"/>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29" name="Text 27"/>
          <p:cNvSpPr txBox="1"/>
          <p:nvPr/>
        </p:nvSpPr>
        <p:spPr>
          <a:xfrm>
            <a:off x="7101688" y="2843784"/>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ΔPI = ΔPD × LGD</a:t>
            </a:r>
            <a:endParaRPr lang="en-US" sz="1400" dirty="0"/>
          </a:p>
        </p:txBody>
      </p:sp>
      <p:sp>
        <p:nvSpPr>
          <p:cNvPr id="30" name="Text 28"/>
          <p:cNvSpPr txBox="1"/>
          <p:nvPr/>
        </p:nvSpPr>
        <p:spPr>
          <a:xfrm>
            <a:off x="8793328" y="2843784"/>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8.1 pp × 70% = 5.7 pp</a:t>
            </a:r>
            <a:endParaRPr lang="en-US" sz="1500" dirty="0"/>
          </a:p>
        </p:txBody>
      </p:sp>
      <p:sp>
        <p:nvSpPr>
          <p:cNvPr id="31" name="Número 3"/>
          <p:cNvSpPr/>
          <p:nvPr/>
        </p:nvSpPr>
        <p:spPr>
          <a:xfrm>
            <a:off x="6507328" y="3611880"/>
            <a:ext cx="411480" cy="411480"/>
          </a:xfrm>
          <a:prstGeom prst="ellipse">
            <a:avLst/>
          </a:prstGeom>
          <a:solidFill>
            <a:schemeClr val="accent1"/>
          </a:solidFill>
          <a:ln w="12700">
            <a:solidFill>
              <a:schemeClr val="accent1"/>
            </a:solidFill>
            <a:prstDash val="solid"/>
          </a:ln>
        </p:spPr>
      </p:sp>
      <p:sp>
        <p:nvSpPr>
          <p:cNvPr id="32" name="Text 30"/>
          <p:cNvSpPr txBox="1"/>
          <p:nvPr/>
        </p:nvSpPr>
        <p:spPr>
          <a:xfrm>
            <a:off x="6507328" y="361188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33" name="Text 31"/>
          <p:cNvSpPr txBox="1"/>
          <p:nvPr/>
        </p:nvSpPr>
        <p:spPr>
          <a:xfrm>
            <a:off x="7101688" y="3538728"/>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Pérdida adicional</a:t>
            </a:r>
            <a:endParaRPr lang="en-US" sz="1400" dirty="0"/>
          </a:p>
        </p:txBody>
      </p:sp>
      <p:sp>
        <p:nvSpPr>
          <p:cNvPr id="34" name="Text 32"/>
          <p:cNvSpPr txBox="1"/>
          <p:nvPr/>
        </p:nvSpPr>
        <p:spPr>
          <a:xfrm>
            <a:off x="8793328" y="3538728"/>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449.2 × 5.7% = 25.6 MM</a:t>
            </a:r>
            <a:endParaRPr lang="en-US" sz="1500" dirty="0"/>
          </a:p>
        </p:txBody>
      </p:sp>
      <p:sp>
        <p:nvSpPr>
          <p:cNvPr id="35" name="Número 4"/>
          <p:cNvSpPr/>
          <p:nvPr/>
        </p:nvSpPr>
        <p:spPr>
          <a:xfrm>
            <a:off x="6507328" y="4306824"/>
            <a:ext cx="411480" cy="411480"/>
          </a:xfrm>
          <a:prstGeom prst="ellipse">
            <a:avLst/>
          </a:prstGeom>
          <a:solidFill>
            <a:schemeClr val="accent1"/>
          </a:solidFill>
          <a:ln w="12700">
            <a:solidFill>
              <a:schemeClr val="accent1"/>
            </a:solidFill>
            <a:prstDash val="solid"/>
          </a:ln>
        </p:spPr>
      </p:sp>
      <p:sp>
        <p:nvSpPr>
          <p:cNvPr id="36" name="Text 34"/>
          <p:cNvSpPr txBox="1"/>
          <p:nvPr/>
        </p:nvSpPr>
        <p:spPr>
          <a:xfrm>
            <a:off x="6507328" y="4306824"/>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37" name="Text 35"/>
          <p:cNvSpPr txBox="1"/>
          <p:nvPr/>
        </p:nvSpPr>
        <p:spPr>
          <a:xfrm>
            <a:off x="7101688" y="4233672"/>
            <a:ext cx="1645920" cy="5486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Pérdida El Niño</a:t>
            </a:r>
            <a:endParaRPr lang="en-US" sz="1400" dirty="0"/>
          </a:p>
        </p:txBody>
      </p:sp>
      <p:sp>
        <p:nvSpPr>
          <p:cNvPr id="38" name="Text 36"/>
          <p:cNvSpPr txBox="1"/>
          <p:nvPr/>
        </p:nvSpPr>
        <p:spPr>
          <a:xfrm>
            <a:off x="8793328" y="4233672"/>
            <a:ext cx="2666848" cy="548640"/>
          </a:xfrm>
          <a:prstGeom prst="rect">
            <a:avLst/>
          </a:prstGeom>
          <a:noFill/>
          <a:ln/>
        </p:spPr>
        <p:txBody>
          <a:bodyPr wrap="square" lIns="0" tIns="0" rIns="0" bIns="0" rtlCol="0" anchor="ctr"/>
          <a:lstStyle/>
          <a:p>
            <a:pPr indent="0" marL="0">
              <a:buNone/>
            </a:pPr>
            <a:r>
              <a:rPr lang="en-US" sz="1500" b="1" dirty="0">
                <a:solidFill>
                  <a:schemeClr val="accent1"/>
                </a:solidFill>
                <a:latin typeface="Arial" pitchFamily="34" charset="0"/>
                <a:ea typeface="Arial" pitchFamily="34" charset="-122"/>
                <a:cs typeface="Arial" pitchFamily="34" charset="-120"/>
              </a:rPr>
              <a:t>44.0 + 25.6 = 69.6 MM</a:t>
            </a:r>
            <a:endParaRPr lang="en-US" sz="1500" dirty="0"/>
          </a:p>
        </p:txBody>
      </p:sp>
      <p:sp>
        <p:nvSpPr>
          <p:cNvPr id="39" name="Conclusión ejemplo"/>
          <p:cNvSpPr/>
          <p:nvPr/>
        </p:nvSpPr>
        <p:spPr>
          <a:xfrm>
            <a:off x="548640" y="5212080"/>
            <a:ext cx="11094415" cy="640080"/>
          </a:xfrm>
          <a:prstGeom prst="roundRect">
            <a:avLst>
              <a:gd name="adj" fmla="val 11429"/>
            </a:avLst>
          </a:prstGeom>
          <a:solidFill>
            <a:schemeClr val="accent1"/>
          </a:solidFill>
          <a:ln w="12700">
            <a:solidFill>
              <a:schemeClr val="accent1"/>
            </a:solidFill>
            <a:prstDash val="solid"/>
          </a:ln>
        </p:spPr>
      </p:sp>
      <p:sp>
        <p:nvSpPr>
          <p:cNvPr id="40" name="Text 38"/>
          <p:cNvSpPr txBox="1"/>
          <p:nvPr/>
        </p:nvSpPr>
        <p:spPr>
          <a:xfrm>
            <a:off x="822960" y="5212080"/>
            <a:ext cx="10545775" cy="6400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No hace falta conocer la PD: basta la PI actual y el aumento ΔPD × LGD</a:t>
            </a:r>
            <a:endParaRPr lang="en-US" sz="1700" dirty="0"/>
          </a:p>
        </p:txBody>
      </p:sp>
      <p:sp>
        <p:nvSpPr>
          <p:cNvPr id="41"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ΔPD de 8.1 pp: calibración de la lámina de julio (con la mezcla del sistema son 8.06 pp y 15.4%). LGD: BCE pág. 37.</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La PD sube 4.04 pp (moderado) y 8.06 pp (severo)</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1005840"/>
                <a:gridCol w="914400"/>
                <a:gridCol w="1234440"/>
                <a:gridCol w="1143000"/>
                <a:gridCol w="1234440"/>
                <a:gridCol w="123444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Zona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Peso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Shock moderado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Shock severo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Moderado × peso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Severo × peso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Alta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18.6%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+15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2.79</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Media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1.20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Baja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57.4%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1.72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2.87</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ΔPD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4.04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8.06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r>
            </a:tbl>
          </a:graphicData>
        </a:graphic>
      </p:graphicFrame>
      <p:sp>
        <p:nvSpPr>
          <p:cNvPr id="4" name="Fórmula ΔPD"/>
          <p:cNvSpPr/>
          <p:nvPr/>
        </p:nvSpPr>
        <p:spPr>
          <a:xfrm>
            <a:off x="548640" y="4114800"/>
            <a:ext cx="6766560" cy="1645920"/>
          </a:xfrm>
          <a:prstGeom prst="roundRect">
            <a:avLst>
              <a:gd name="adj" fmla="val 4444"/>
            </a:avLst>
          </a:prstGeom>
          <a:solidFill>
            <a:schemeClr val="bg2"/>
          </a:solidFill>
          <a:ln w="12700">
            <a:solidFill>
              <a:schemeClr val="bg2"/>
            </a:solidFill>
            <a:prstDash val="solid"/>
          </a:ln>
        </p:spPr>
      </p:sp>
      <p:sp>
        <p:nvSpPr>
          <p:cNvPr id="5" name="Text 2"/>
          <p:cNvSpPr txBox="1"/>
          <p:nvPr/>
        </p:nvSpPr>
        <p:spPr>
          <a:xfrm>
            <a:off x="822960" y="4206240"/>
            <a:ext cx="6217920" cy="1463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Zona por zona: </a:t>
            </a:r>
            <a:pPr indent="0" marL="0">
              <a:buNone/>
            </a:pPr>
            <a:r>
              <a:rPr lang="en-US" sz="1400" dirty="0">
                <a:solidFill>
                  <a:schemeClr val="tx1"/>
                </a:solidFill>
                <a:latin typeface="Calibri" pitchFamily="34" charset="0"/>
                <a:ea typeface="Calibri" pitchFamily="34" charset="-122"/>
                <a:cs typeface="Calibri" pitchFamily="34" charset="-120"/>
              </a:rPr>
              <a:t>Σ Saldo_zona × shock_zona × LGD = Saldo × LGD × Σ (peso_zona × shock_zona)</a:t>
            </a:r>
            <a:endParaRPr lang="en-US" sz="14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ΔPD = 18.6% × shock Alta + 24.0% × shock Media + 57.4% × shock Baja</a:t>
            </a:r>
            <a:endParaRPr lang="en-US" sz="1400" dirty="0"/>
          </a:p>
        </p:txBody>
      </p:sp>
      <p:sp>
        <p:nvSpPr>
          <p:cNvPr id="6" name="Por qué ponderado"/>
          <p:cNvSpPr/>
          <p:nvPr/>
        </p:nvSpPr>
        <p:spPr>
          <a:xfrm>
            <a:off x="7589520" y="1463040"/>
            <a:ext cx="4050792" cy="4206240"/>
          </a:xfrm>
          <a:prstGeom prst="roundRect">
            <a:avLst>
              <a:gd name="adj" fmla="val 1806"/>
            </a:avLst>
          </a:prstGeom>
          <a:solidFill>
            <a:schemeClr val="bg2"/>
          </a:solidFill>
          <a:ln w="12700">
            <a:solidFill>
              <a:schemeClr val="bg2"/>
            </a:solidFill>
            <a:prstDash val="solid"/>
          </a:ln>
        </p:spPr>
      </p:sp>
      <p:sp>
        <p:nvSpPr>
          <p:cNvPr id="7" name="Ícono balanza círculo"/>
          <p:cNvSpPr/>
          <p:nvPr/>
        </p:nvSpPr>
        <p:spPr>
          <a:xfrm>
            <a:off x="7818120" y="1691640"/>
            <a:ext cx="640080" cy="640080"/>
          </a:xfrm>
          <a:prstGeom prst="ellipse">
            <a:avLst/>
          </a:prstGeom>
          <a:solidFill>
            <a:schemeClr val="accent1"/>
          </a:solidFill>
          <a:ln w="12700">
            <a:solidFill>
              <a:schemeClr val="accent1"/>
            </a:solidFill>
            <a:prstDash val="solid"/>
          </a:ln>
        </p:spPr>
      </p:sp>
      <p:pic>
        <p:nvPicPr>
          <p:cNvPr id="8" name="Ícono balanza" descr="preencoded.png">    </p:cNvPr>
          <p:cNvPicPr>
            <a:picLocks noChangeAspect="1"/>
          </p:cNvPicPr>
          <p:nvPr/>
        </p:nvPicPr>
        <p:blipFill>
          <a:blip r:embed="rId1"/>
          <a:stretch>
            <a:fillRect/>
          </a:stretch>
        </p:blipFill>
        <p:spPr>
          <a:xfrm>
            <a:off x="7958938" y="1832458"/>
            <a:ext cx="358445" cy="358445"/>
          </a:xfrm>
          <a:prstGeom prst="rect">
            <a:avLst/>
          </a:prstGeom>
        </p:spPr>
      </p:pic>
      <p:sp>
        <p:nvSpPr>
          <p:cNvPr id="9" name="Text 5"/>
          <p:cNvSpPr txBox="1"/>
          <p:nvPr/>
        </p:nvSpPr>
        <p:spPr>
          <a:xfrm>
            <a:off x="8595360" y="1783080"/>
            <a:ext cx="2926080" cy="457200"/>
          </a:xfrm>
          <a:prstGeom prst="rect">
            <a:avLst/>
          </a:prstGeom>
          <a:noFill/>
          <a:ln/>
        </p:spPr>
        <p:txBody>
          <a:bodyPr wrap="square" lIns="0" tIns="0" rIns="0" bIns="0" rtlCol="0" anchor="ctr"/>
          <a:lstStyle/>
          <a:p>
            <a:pPr indent="0" marL="0">
              <a:buNone/>
            </a:pPr>
            <a:r>
              <a:rPr lang="en-US" sz="1700" b="1" dirty="0">
                <a:solidFill>
                  <a:schemeClr val="accent1"/>
                </a:solidFill>
                <a:latin typeface="Arial" pitchFamily="34" charset="0"/>
                <a:ea typeface="Arial" pitchFamily="34" charset="-122"/>
                <a:cs typeface="Arial" pitchFamily="34" charset="-120"/>
              </a:rPr>
              <a:t>¿Por qué ponderado?</a:t>
            </a:r>
            <a:endParaRPr lang="en-US" sz="1700" dirty="0"/>
          </a:p>
        </p:txBody>
      </p:sp>
      <p:sp>
        <p:nvSpPr>
          <p:cNvPr id="10" name="Text 6"/>
          <p:cNvSpPr txBox="1"/>
          <p:nvPr/>
        </p:nvSpPr>
        <p:spPr>
          <a:xfrm>
            <a:off x="7818120" y="2514600"/>
            <a:ext cx="361188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El shock cambia por zona y la cartera está repartida entre las tres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Es igual a calcular zona por zona: micro severo 8.78 + 7.55 + 9.02 = 25.35 MM</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Un promedio simple daría 10 pp y exageraría: el 57% está en zona Baja</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Se usan los pesos del sistema; lo ideal es la mezcla propia</a:t>
            </a:r>
            <a:endParaRPr lang="en-US" sz="1400" dirty="0"/>
          </a:p>
        </p:txBody>
      </p:sp>
      <p:sp>
        <p:nvSpPr>
          <p:cNvPr id="11"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Pesos: BCE pág. 23 (3,830, 4,940 y 11,804 MM sobre 20,574 MM). Shocks: BCE pág. 39, Tabla 9.</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La severidad convierte el aumento de PD en pérdida</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914400"/>
        </p:xfrm>
        <a:graphic>
          <a:graphicData uri="http://schemas.openxmlformats.org/drawingml/2006/table">
            <a:tbl>
              <a:tblPr/>
              <a:tblGrid>
                <a:gridCol w="1417320"/>
                <a:gridCol w="1097280"/>
                <a:gridCol w="914400"/>
                <a:gridCol w="777240"/>
                <a:gridCol w="1828800"/>
              </a:tblGrid>
              <a:tr h="54864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Segmento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Escenario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ΔPD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LGD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ΔPI = ΔPD × LGD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4864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Microfinanzas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Severo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8.06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5.64 pp (lámina: 5.7)</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4864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PYMES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Moderado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4.04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1.62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bl>
          </a:graphicData>
        </a:graphic>
      </p:graphicFrame>
      <p:sp>
        <p:nvSpPr>
          <p:cNvPr id="4" name="Nota LGD"/>
          <p:cNvSpPr/>
          <p:nvPr/>
        </p:nvSpPr>
        <p:spPr>
          <a:xfrm>
            <a:off x="548640" y="3291840"/>
            <a:ext cx="6035040" cy="1920240"/>
          </a:xfrm>
          <a:prstGeom prst="roundRect">
            <a:avLst>
              <a:gd name="adj" fmla="val 3810"/>
            </a:avLst>
          </a:prstGeom>
          <a:solidFill>
            <a:schemeClr val="bg2"/>
          </a:solidFill>
          <a:ln w="12700">
            <a:solidFill>
              <a:schemeClr val="bg2"/>
            </a:solidFill>
            <a:prstDash val="solid"/>
          </a:ln>
        </p:spPr>
      </p:sp>
      <p:sp>
        <p:nvSpPr>
          <p:cNvPr id="5" name="Text 2"/>
          <p:cNvSpPr txBox="1"/>
          <p:nvPr/>
        </p:nvSpPr>
        <p:spPr>
          <a:xfrm>
            <a:off x="822960" y="3474720"/>
            <a:ext cx="5486400" cy="155448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LGD del BCE (pág. 37): </a:t>
            </a:r>
            <a:pPr indent="0" marL="0">
              <a:buNone/>
            </a:pPr>
            <a:r>
              <a:rPr lang="en-US" sz="1500" dirty="0">
                <a:solidFill>
                  <a:schemeClr val="tx1"/>
                </a:solidFill>
                <a:latin typeface="Calibri" pitchFamily="34" charset="0"/>
                <a:ea typeface="Calibri" pitchFamily="34" charset="-122"/>
                <a:cs typeface="Calibri" pitchFamily="34" charset="-120"/>
              </a:rPr>
              <a:t>70% en microcrédito y 40% en productivo, porque las garantías del productivo son más líquidas.</a:t>
            </a:r>
            <a:endParaRPr lang="en-US" sz="15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accent1"/>
                </a:solidFill>
                <a:latin typeface="Calibri" pitchFamily="34" charset="0"/>
                <a:ea typeface="Calibri" pitchFamily="34" charset="-122"/>
                <a:cs typeface="Calibri" pitchFamily="34" charset="-120"/>
              </a:rPr>
              <a:t>Micro: </a:t>
            </a:r>
            <a:pPr indent="0" marL="0">
              <a:buNone/>
            </a:pPr>
            <a:r>
              <a:rPr lang="en-US" sz="1500" dirty="0">
                <a:solidFill>
                  <a:schemeClr val="tx1"/>
                </a:solidFill>
                <a:latin typeface="Calibri" pitchFamily="34" charset="0"/>
                <a:ea typeface="Calibri" pitchFamily="34" charset="-122"/>
                <a:cs typeface="Calibri" pitchFamily="34" charset="-120"/>
              </a:rPr>
              <a:t>la lámina usa 5.7 pp, calibrado en el cálculo de julio; con 5.64 pp exactos serían 15.4%.</a:t>
            </a:r>
            <a:endParaRPr lang="en-US" sz="1500" dirty="0"/>
          </a:p>
        </p:txBody>
      </p:sp>
      <p:sp>
        <p:nvSpPr>
          <p:cNvPr id="6" name="Factor Empresas"/>
          <p:cNvSpPr/>
          <p:nvPr/>
        </p:nvSpPr>
        <p:spPr>
          <a:xfrm>
            <a:off x="6949440" y="1463040"/>
            <a:ext cx="4690872" cy="4206240"/>
          </a:xfrm>
          <a:prstGeom prst="roundRect">
            <a:avLst>
              <a:gd name="adj" fmla="val 1739"/>
            </a:avLst>
          </a:prstGeom>
          <a:solidFill>
            <a:schemeClr val="bg2"/>
          </a:solidFill>
          <a:ln w="12700">
            <a:solidFill>
              <a:schemeClr val="bg2"/>
            </a:solidFill>
            <a:prstDash val="solid"/>
          </a:ln>
        </p:spPr>
      </p:sp>
      <p:sp>
        <p:nvSpPr>
          <p:cNvPr id="7" name="Ícono Empresas círculo"/>
          <p:cNvSpPr/>
          <p:nvPr/>
        </p:nvSpPr>
        <p:spPr>
          <a:xfrm>
            <a:off x="7178040" y="1691640"/>
            <a:ext cx="640080" cy="640080"/>
          </a:xfrm>
          <a:prstGeom prst="ellipse">
            <a:avLst/>
          </a:prstGeom>
          <a:solidFill>
            <a:schemeClr val="accent1"/>
          </a:solidFill>
          <a:ln w="12700">
            <a:solidFill>
              <a:schemeClr val="accent1"/>
            </a:solidFill>
            <a:prstDash val="solid"/>
          </a:ln>
        </p:spPr>
      </p:sp>
      <p:pic>
        <p:nvPicPr>
          <p:cNvPr id="8" name="Ícono Empresas" descr="preencoded.png">    </p:cNvPr>
          <p:cNvPicPr>
            <a:picLocks noChangeAspect="1"/>
          </p:cNvPicPr>
          <p:nvPr/>
        </p:nvPicPr>
        <p:blipFill>
          <a:blip r:embed="rId1"/>
          <a:stretch>
            <a:fillRect/>
          </a:stretch>
        </p:blipFill>
        <p:spPr>
          <a:xfrm>
            <a:off x="7318858" y="1832458"/>
            <a:ext cx="358445" cy="358445"/>
          </a:xfrm>
          <a:prstGeom prst="rect">
            <a:avLst/>
          </a:prstGeom>
        </p:spPr>
      </p:pic>
      <p:sp>
        <p:nvSpPr>
          <p:cNvPr id="9" name="Text 5"/>
          <p:cNvSpPr txBox="1"/>
          <p:nvPr/>
        </p:nvSpPr>
        <p:spPr>
          <a:xfrm>
            <a:off x="7955280" y="1783080"/>
            <a:ext cx="3566160" cy="457200"/>
          </a:xfrm>
          <a:prstGeom prst="rect">
            <a:avLst/>
          </a:prstGeom>
          <a:noFill/>
          <a:ln/>
        </p:spPr>
        <p:txBody>
          <a:bodyPr wrap="square" lIns="0" tIns="0" rIns="0" bIns="0" rtlCol="0" anchor="ctr"/>
          <a:lstStyle/>
          <a:p>
            <a:pPr indent="0" marL="0">
              <a:buNone/>
            </a:pPr>
            <a:r>
              <a:rPr lang="en-US" sz="1700" b="1" dirty="0">
                <a:solidFill>
                  <a:schemeClr val="accent1"/>
                </a:solidFill>
                <a:latin typeface="Arial" pitchFamily="34" charset="0"/>
                <a:ea typeface="Arial" pitchFamily="34" charset="-122"/>
                <a:cs typeface="Arial" pitchFamily="34" charset="-120"/>
              </a:rPr>
              <a:t>Empresas: factor proporcional</a:t>
            </a:r>
            <a:endParaRPr lang="en-US" sz="1700" dirty="0"/>
          </a:p>
        </p:txBody>
      </p:sp>
      <p:sp>
        <p:nvSpPr>
          <p:cNvPr id="10" name="Text 6"/>
          <p:cNvSpPr txBox="1"/>
          <p:nvPr/>
        </p:nvSpPr>
        <p:spPr>
          <a:xfrm>
            <a:off x="7178040" y="2514600"/>
            <a:ext cx="4297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1,230 / 791 = 1.555 ≈ 1.6</a:t>
            </a:r>
            <a:endParaRPr lang="en-US" sz="2600" dirty="0"/>
          </a:p>
        </p:txBody>
      </p:sp>
      <p:sp>
        <p:nvSpPr>
          <p:cNvPr id="11" name="Text 7"/>
          <p:cNvSpPr txBox="1"/>
          <p:nvPr/>
        </p:nvSpPr>
        <p:spPr>
          <a:xfrm>
            <a:off x="7178040" y="3063240"/>
            <a:ext cx="4297680" cy="5486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Pérdida esperada de la banca privada, severo frente a base (BCE pág. 49, Tabla 15)</a:t>
            </a:r>
            <a:endParaRPr lang="en-US" sz="1300" dirty="0"/>
          </a:p>
        </p:txBody>
      </p:sp>
      <p:sp>
        <p:nvSpPr>
          <p:cNvPr id="12" name="Text 8"/>
          <p:cNvSpPr txBox="1"/>
          <p:nvPr/>
        </p:nvSpPr>
        <p:spPr>
          <a:xfrm>
            <a:off x="7178040" y="3703320"/>
            <a:ext cx="4297680" cy="45720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1.8% × 1.6 = 2.9%</a:t>
            </a:r>
            <a:endParaRPr lang="en-US" sz="2000" dirty="0"/>
          </a:p>
        </p:txBody>
      </p:sp>
      <p:sp>
        <p:nvSpPr>
          <p:cNvPr id="13" name="Text 9"/>
          <p:cNvSpPr txBox="1"/>
          <p:nvPr/>
        </p:nvSpPr>
        <p:spPr>
          <a:xfrm>
            <a:off x="7178040" y="4297680"/>
            <a:ext cx="429768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Con puntos fijos, Empresas subiría a 5.0%. Por qué se usa el factor: lámina siguiente.</a:t>
            </a:r>
            <a:endParaRPr lang="en-US" sz="1400" dirty="0"/>
          </a:p>
        </p:txBody>
      </p:sp>
      <p:sp>
        <p:nvSpPr>
          <p:cNvPr id="14"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LGD: BCE pág. 37 y Tabla 9 (pág. 39). Factor: BCE pág. 49, Tabla 15, fila Bancos privados.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Por qué Empresas usa un factor proporcional</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2926080"/>
                <a:gridCol w="1280160"/>
                <a:gridCol w="128016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Con el mismo shock severo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Micro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Empresas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PD implícita actual (PI / LGD)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PD con +8.1 pp</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12.6%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Veces que sube la PD</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PI resultante</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15.5%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bl>
          </a:graphicData>
        </a:graphic>
      </p:graphicFrame>
      <p:sp>
        <p:nvSpPr>
          <p:cNvPr id="4" name="Problema puntos fijos"/>
          <p:cNvSpPr/>
          <p:nvPr/>
        </p:nvSpPr>
        <p:spPr>
          <a:xfrm>
            <a:off x="548640" y="4160520"/>
            <a:ext cx="5486400" cy="1600200"/>
          </a:xfrm>
          <a:prstGeom prst="roundRect">
            <a:avLst>
              <a:gd name="adj" fmla="val 4571"/>
            </a:avLst>
          </a:prstGeom>
          <a:solidFill>
            <a:schemeClr val="bg2"/>
          </a:solidFill>
          <a:ln w="12700">
            <a:solidFill>
              <a:schemeClr val="bg2"/>
            </a:solidFill>
            <a:prstDash val="solid"/>
          </a:ln>
        </p:spPr>
      </p:sp>
      <p:sp>
        <p:nvSpPr>
          <p:cNvPr id="5" name="Text 2"/>
          <p:cNvSpPr txBox="1"/>
          <p:nvPr/>
        </p:nvSpPr>
        <p:spPr>
          <a:xfrm>
            <a:off x="822960" y="4251960"/>
            <a:ext cx="4937760" cy="1417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Sumar los mismos puntos ignora el riesgo de partida: </a:t>
            </a:r>
            <a:pPr indent="0" marL="0">
              <a:buNone/>
            </a:pPr>
            <a:r>
              <a:rPr lang="en-US" sz="1400" dirty="0">
                <a:solidFill>
                  <a:schemeClr val="tx1"/>
                </a:solidFill>
                <a:latin typeface="Calibri" pitchFamily="34" charset="0"/>
                <a:ea typeface="Calibri" pitchFamily="34" charset="-122"/>
                <a:cs typeface="Calibri" pitchFamily="34" charset="-120"/>
              </a:rPr>
              <a:t>a Empresas le casi triplica la PD y a micro la sube 1.6 veces. El factor 1.6 (BCE pág. 49: 1,230 / 791) le da a Empresas el mismo aumento relativo que a micro.</a:t>
            </a:r>
            <a:endParaRPr lang="en-US" sz="1400" dirty="0"/>
          </a:p>
        </p:txBody>
      </p:sp>
      <p:sp>
        <p:nvSpPr>
          <p:cNvPr id="6" name="Teoría Vasicek"/>
          <p:cNvSpPr/>
          <p:nvPr/>
        </p:nvSpPr>
        <p:spPr>
          <a:xfrm>
            <a:off x="6309360" y="1463040"/>
            <a:ext cx="5330952" cy="4297680"/>
          </a:xfrm>
          <a:prstGeom prst="roundRect">
            <a:avLst>
              <a:gd name="adj" fmla="val 1702"/>
            </a:avLst>
          </a:prstGeom>
          <a:solidFill>
            <a:schemeClr val="bg2"/>
          </a:solidFill>
          <a:ln w="12700">
            <a:solidFill>
              <a:schemeClr val="bg2"/>
            </a:solidFill>
            <a:prstDash val="solid"/>
          </a:ln>
        </p:spPr>
      </p:sp>
      <p:sp>
        <p:nvSpPr>
          <p:cNvPr id="7" name="Ícono teoría círculo"/>
          <p:cNvSpPr/>
          <p:nvPr/>
        </p:nvSpPr>
        <p:spPr>
          <a:xfrm>
            <a:off x="6537960" y="1691640"/>
            <a:ext cx="640080" cy="640080"/>
          </a:xfrm>
          <a:prstGeom prst="ellipse">
            <a:avLst/>
          </a:prstGeom>
          <a:solidFill>
            <a:schemeClr val="accent1"/>
          </a:solidFill>
          <a:ln w="12700">
            <a:solidFill>
              <a:schemeClr val="accent1"/>
            </a:solidFill>
            <a:prstDash val="solid"/>
          </a:ln>
        </p:spPr>
      </p:sp>
      <p:pic>
        <p:nvPicPr>
          <p:cNvPr id="8" name="Ícono teoría" descr="preencoded.png">    </p:cNvPr>
          <p:cNvPicPr>
            <a:picLocks noChangeAspect="1"/>
          </p:cNvPicPr>
          <p:nvPr/>
        </p:nvPicPr>
        <p:blipFill>
          <a:blip r:embed="rId1"/>
          <a:stretch>
            <a:fillRect/>
          </a:stretch>
        </p:blipFill>
        <p:spPr>
          <a:xfrm>
            <a:off x="6678778" y="1832458"/>
            <a:ext cx="358445" cy="358445"/>
          </a:xfrm>
          <a:prstGeom prst="rect">
            <a:avLst/>
          </a:prstGeom>
        </p:spPr>
      </p:pic>
      <p:sp>
        <p:nvSpPr>
          <p:cNvPr id="9" name="Text 5"/>
          <p:cNvSpPr txBox="1"/>
          <p:nvPr/>
        </p:nvSpPr>
        <p:spPr>
          <a:xfrm>
            <a:off x="7315200" y="1783080"/>
            <a:ext cx="4114800" cy="457200"/>
          </a:xfrm>
          <a:prstGeom prst="rect">
            <a:avLst/>
          </a:prstGeom>
          <a:noFill/>
          <a:ln/>
        </p:spPr>
        <p:txBody>
          <a:bodyPr wrap="square" lIns="0" tIns="0" rIns="0" bIns="0" rtlCol="0" anchor="ctr"/>
          <a:lstStyle/>
          <a:p>
            <a:pPr indent="0" marL="0">
              <a:buNone/>
            </a:pPr>
            <a:r>
              <a:rPr lang="en-US" sz="1700" b="1" dirty="0">
                <a:solidFill>
                  <a:schemeClr val="accent1"/>
                </a:solidFill>
                <a:latin typeface="Arial" pitchFamily="34" charset="0"/>
                <a:ea typeface="Arial" pitchFamily="34" charset="-122"/>
                <a:cs typeface="Arial" pitchFamily="34" charset="-120"/>
              </a:rPr>
              <a:t>Lo que dice la teoría</a:t>
            </a:r>
            <a:endParaRPr lang="en-US" sz="1700" dirty="0"/>
          </a:p>
        </p:txBody>
      </p:sp>
      <p:sp>
        <p:nvSpPr>
          <p:cNvPr id="10" name="Text 6"/>
          <p:cNvSpPr txBox="1"/>
          <p:nvPr/>
        </p:nvSpPr>
        <p:spPr>
          <a:xfrm>
            <a:off x="6537960" y="2468880"/>
            <a:ext cx="4873752"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En el modelo de Vasicek, base de la fórmula IRB de Basilea, la PD en estrés depende de la PD de partida: las carteras de PD baja suben menos en puntos.</a:t>
            </a:r>
            <a:endParaRPr lang="en-US" sz="1400" dirty="0"/>
          </a:p>
        </p:txBody>
      </p:sp>
      <p:sp>
        <p:nvSpPr>
          <p:cNvPr id="11" name="Text 7"/>
          <p:cNvSpPr txBox="1"/>
          <p:nvPr/>
        </p:nvSpPr>
        <p:spPr>
          <a:xfrm>
            <a:off x="6537960" y="3429000"/>
            <a:ext cx="4873752" cy="7315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Comprobación: </a:t>
            </a:r>
            <a:pPr indent="0" marL="0">
              <a:buNone/>
            </a:pPr>
            <a:r>
              <a:rPr lang="en-US" sz="1400" dirty="0">
                <a:solidFill>
                  <a:schemeClr val="tx1"/>
                </a:solidFill>
                <a:latin typeface="Calibri" pitchFamily="34" charset="0"/>
                <a:ea typeface="Calibri" pitchFamily="34" charset="-122"/>
                <a:cs typeface="Calibri" pitchFamily="34" charset="-120"/>
              </a:rPr>
              <a:t>el mismo estrés que lleva a micro de 14.0% a 22.1% lleva a Empresas de 4.5% a 7.6%.</a:t>
            </a:r>
            <a:endParaRPr lang="en-US" sz="1400" dirty="0"/>
          </a:p>
        </p:txBody>
      </p:sp>
      <p:sp>
        <p:nvSpPr>
          <p:cNvPr id="12" name="Resultado Vasicek"/>
          <p:cNvSpPr/>
          <p:nvPr/>
        </p:nvSpPr>
        <p:spPr>
          <a:xfrm>
            <a:off x="6537960" y="4206240"/>
            <a:ext cx="4873752" cy="914400"/>
          </a:xfrm>
          <a:prstGeom prst="roundRect">
            <a:avLst>
              <a:gd name="adj" fmla="val 8000"/>
            </a:avLst>
          </a:prstGeom>
          <a:solidFill>
            <a:schemeClr val="accent1"/>
          </a:solidFill>
          <a:ln w="12700">
            <a:solidFill>
              <a:schemeClr val="accent1"/>
            </a:solidFill>
            <a:prstDash val="solid"/>
          </a:ln>
        </p:spPr>
      </p:sp>
      <p:sp>
        <p:nvSpPr>
          <p:cNvPr id="13" name="Text 9"/>
          <p:cNvSpPr txBox="1"/>
          <p:nvPr/>
        </p:nvSpPr>
        <p:spPr>
          <a:xfrm>
            <a:off x="6720840" y="4206240"/>
            <a:ext cx="4526280" cy="91440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PI de Empresas ≈ 3.0%</a:t>
            </a:r>
            <a:endParaRPr lang="en-US" sz="1400" dirty="0"/>
          </a:p>
          <a:p>
            <a:pPr indent="0" marL="0">
              <a:buNone/>
            </a:pPr>
            <a:r>
              <a:rPr lang="en-US" sz="1400" dirty="0">
                <a:solidFill>
                  <a:schemeClr val="bg1"/>
                </a:solidFill>
                <a:latin typeface="Calibri" pitchFamily="34" charset="0"/>
                <a:ea typeface="Calibri" pitchFamily="34" charset="-122"/>
                <a:cs typeface="Calibri" pitchFamily="34" charset="-120"/>
              </a:rPr>
              <a:t>El factor (2.9%) es consistente; los puntos fijos (5.0%), no</a:t>
            </a:r>
            <a:endParaRPr lang="en-US" sz="1400" dirty="0"/>
          </a:p>
        </p:txBody>
      </p:sp>
      <p:sp>
        <p:nvSpPr>
          <p:cNvPr id="14" name="Text 10"/>
          <p:cNvSpPr txBox="1"/>
          <p:nvPr/>
        </p:nvSpPr>
        <p:spPr>
          <a:xfrm>
            <a:off x="6537960" y="5212080"/>
            <a:ext cx="4873752" cy="45720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Correlación de 15% en ambas carteras; entre 8% y 24% la PI queda entre 2.8% y 3.2%.</a:t>
            </a:r>
            <a:endParaRPr lang="en-US" sz="1100" dirty="0"/>
          </a:p>
        </p:txBody>
      </p:sp>
      <p:sp>
        <p:nvSpPr>
          <p:cNvPr id="15"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Vasicek (2002), Risk 15(12); BCBS (2005), An Explanatory Note on the Basel II IRB Risk Weight Functions; BCE pág. 49, Tabla 15.</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Cada término de la fórmula es un paso del cálculo</a:t>
            </a:r>
            <a:endParaRPr lang="en-US" sz="3000" dirty="0"/>
          </a:p>
        </p:txBody>
      </p:sp>
      <p:sp>
        <p:nvSpPr>
          <p:cNvPr id="3" name="Fórmula escenario"/>
          <p:cNvSpPr/>
          <p:nvPr/>
        </p:nvSpPr>
        <p:spPr>
          <a:xfrm>
            <a:off x="548640" y="1325880"/>
            <a:ext cx="11094415" cy="777240"/>
          </a:xfrm>
          <a:prstGeom prst="roundRect">
            <a:avLst>
              <a:gd name="adj" fmla="val 9412"/>
            </a:avLst>
          </a:prstGeom>
          <a:solidFill>
            <a:schemeClr val="accent1"/>
          </a:solidFill>
          <a:ln w="12700">
            <a:solidFill>
              <a:schemeClr val="accent1"/>
            </a:solidFill>
            <a:prstDash val="solid"/>
          </a:ln>
        </p:spPr>
      </p:sp>
      <p:sp>
        <p:nvSpPr>
          <p:cNvPr id="4" name="Text 2"/>
          <p:cNvSpPr txBox="1"/>
          <p:nvPr/>
        </p:nvSpPr>
        <p:spPr>
          <a:xfrm>
            <a:off x="822960" y="1325880"/>
            <a:ext cx="10545775" cy="777240"/>
          </a:xfrm>
          <a:prstGeom prst="rect">
            <a:avLst/>
          </a:prstGeom>
          <a:noFill/>
          <a:ln/>
        </p:spPr>
        <p:txBody>
          <a:bodyPr wrap="square" lIns="0" tIns="0" rIns="0" bIns="0" rtlCol="0" anchor="ctr"/>
          <a:lstStyle/>
          <a:p>
            <a:pPr algn="ctr" indent="0" marL="0">
              <a:buNone/>
            </a:pPr>
            <a:r>
              <a:rPr lang="en-US" sz="2400" b="1" dirty="0">
                <a:solidFill>
                  <a:schemeClr val="bg1"/>
                </a:solidFill>
                <a:latin typeface="Arial" pitchFamily="34" charset="0"/>
                <a:ea typeface="Arial" pitchFamily="34" charset="-122"/>
                <a:cs typeface="Arial" pitchFamily="34" charset="-120"/>
              </a:rPr>
              <a:t>PE escenario = PD × EAD × LGD  +  ΔPD × EAD × LGD</a:t>
            </a:r>
            <a:endParaRPr lang="en-US" sz="2400" dirty="0"/>
          </a:p>
        </p:txBody>
      </p:sp>
      <p:sp>
        <p:nvSpPr>
          <p:cNvPr id="5" name="Término 1: PD × EAD × LGD"/>
          <p:cNvSpPr/>
          <p:nvPr/>
        </p:nvSpPr>
        <p:spPr>
          <a:xfrm>
            <a:off x="548640" y="2331720"/>
            <a:ext cx="5120640" cy="2697480"/>
          </a:xfrm>
          <a:prstGeom prst="roundRect">
            <a:avLst>
              <a:gd name="adj" fmla="val 2712"/>
            </a:avLst>
          </a:prstGeom>
          <a:solidFill>
            <a:schemeClr val="bg2"/>
          </a:solidFill>
          <a:ln w="12700">
            <a:solidFill>
              <a:schemeClr val="bg2"/>
            </a:solidFill>
            <a:prstDash val="solid"/>
          </a:ln>
        </p:spPr>
      </p:sp>
      <p:sp>
        <p:nvSpPr>
          <p:cNvPr id="6" name="Text 4"/>
          <p:cNvSpPr txBox="1"/>
          <p:nvPr/>
        </p:nvSpPr>
        <p:spPr>
          <a:xfrm>
            <a:off x="822960" y="2468880"/>
            <a:ext cx="4572000" cy="457200"/>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Término 1: PD × EAD × LGD</a:t>
            </a:r>
            <a:endParaRPr lang="en-US" sz="1800" dirty="0"/>
          </a:p>
        </p:txBody>
      </p:sp>
      <p:sp>
        <p:nvSpPr>
          <p:cNvPr id="7" name="Text 5"/>
          <p:cNvSpPr txBox="1"/>
          <p:nvPr/>
        </p:nvSpPr>
        <p:spPr>
          <a:xfrm>
            <a:off x="822960" y="2971800"/>
            <a:ext cx="457200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 EAD × (PD × LGD)</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 Saldo × PI actual   (PI ≈ PD × LGD)</a:t>
            </a:r>
            <a:endParaRPr lang="en-US" sz="1500" dirty="0"/>
          </a:p>
        </p:txBody>
      </p:sp>
      <p:sp>
        <p:nvSpPr>
          <p:cNvPr id="8" name="Text 6"/>
          <p:cNvSpPr txBox="1"/>
          <p:nvPr/>
        </p:nvSpPr>
        <p:spPr>
          <a:xfrm>
            <a:off x="822960" y="3749040"/>
            <a:ext cx="457200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 449.2 × 9.8% = 44.0 MM</a:t>
            </a:r>
            <a:endParaRPr lang="en-US" sz="2000" dirty="0"/>
          </a:p>
        </p:txBody>
      </p:sp>
      <p:sp>
        <p:nvSpPr>
          <p:cNvPr id="9" name="Etiqueta 1"/>
          <p:cNvSpPr/>
          <p:nvPr/>
        </p:nvSpPr>
        <p:spPr>
          <a:xfrm>
            <a:off x="822960" y="4343400"/>
            <a:ext cx="4572000" cy="457200"/>
          </a:xfrm>
          <a:prstGeom prst="roundRect">
            <a:avLst>
              <a:gd name="adj" fmla="val 16000"/>
            </a:avLst>
          </a:prstGeom>
          <a:solidFill>
            <a:schemeClr val="accent1"/>
          </a:solidFill>
          <a:ln w="12700">
            <a:solidFill>
              <a:schemeClr val="accent1"/>
            </a:solidFill>
            <a:prstDash val="solid"/>
          </a:ln>
        </p:spPr>
      </p:sp>
      <p:sp>
        <p:nvSpPr>
          <p:cNvPr id="10" name="Text 8"/>
          <p:cNvSpPr txBox="1"/>
          <p:nvPr/>
        </p:nvSpPr>
        <p:spPr>
          <a:xfrm>
            <a:off x="960120" y="4343400"/>
            <a:ext cx="4297680" cy="45720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Pérdida actual · paso 1 de la lámina 12</a:t>
            </a:r>
            <a:endParaRPr lang="en-US" sz="1300" dirty="0"/>
          </a:p>
        </p:txBody>
      </p:sp>
      <p:sp>
        <p:nvSpPr>
          <p:cNvPr id="11" name="Término 2: ΔPD × EAD × LGD"/>
          <p:cNvSpPr/>
          <p:nvPr/>
        </p:nvSpPr>
        <p:spPr>
          <a:xfrm>
            <a:off x="6522415" y="2331720"/>
            <a:ext cx="5120640" cy="2697480"/>
          </a:xfrm>
          <a:prstGeom prst="roundRect">
            <a:avLst>
              <a:gd name="adj" fmla="val 2712"/>
            </a:avLst>
          </a:prstGeom>
          <a:solidFill>
            <a:schemeClr val="bg2"/>
          </a:solidFill>
          <a:ln w="12700">
            <a:solidFill>
              <a:schemeClr val="bg2"/>
            </a:solidFill>
            <a:prstDash val="solid"/>
          </a:ln>
        </p:spPr>
      </p:sp>
      <p:sp>
        <p:nvSpPr>
          <p:cNvPr id="12" name="Text 10"/>
          <p:cNvSpPr txBox="1"/>
          <p:nvPr/>
        </p:nvSpPr>
        <p:spPr>
          <a:xfrm>
            <a:off x="6796735" y="2468880"/>
            <a:ext cx="4572000" cy="457200"/>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Término 2: ΔPD × EAD × LGD</a:t>
            </a:r>
            <a:endParaRPr lang="en-US" sz="1800" dirty="0"/>
          </a:p>
        </p:txBody>
      </p:sp>
      <p:sp>
        <p:nvSpPr>
          <p:cNvPr id="13" name="Text 11"/>
          <p:cNvSpPr txBox="1"/>
          <p:nvPr/>
        </p:nvSpPr>
        <p:spPr>
          <a:xfrm>
            <a:off x="6796735" y="2971800"/>
            <a:ext cx="457200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 EAD × (ΔPD × LGD)</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 Saldo × ΔPI   (ΔPI = 8.06 pp × 70% ≈ 5.7 pp)</a:t>
            </a:r>
            <a:endParaRPr lang="en-US" sz="1500" dirty="0"/>
          </a:p>
        </p:txBody>
      </p:sp>
      <p:sp>
        <p:nvSpPr>
          <p:cNvPr id="14" name="Text 12"/>
          <p:cNvSpPr txBox="1"/>
          <p:nvPr/>
        </p:nvSpPr>
        <p:spPr>
          <a:xfrm>
            <a:off x="6796735" y="3749040"/>
            <a:ext cx="457200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 449.2 × 5.7% = 25.6 MM</a:t>
            </a:r>
            <a:endParaRPr lang="en-US" sz="2000" dirty="0"/>
          </a:p>
        </p:txBody>
      </p:sp>
      <p:sp>
        <p:nvSpPr>
          <p:cNvPr id="15" name="Etiqueta 2"/>
          <p:cNvSpPr/>
          <p:nvPr/>
        </p:nvSpPr>
        <p:spPr>
          <a:xfrm>
            <a:off x="6796735" y="4343400"/>
            <a:ext cx="4572000" cy="457200"/>
          </a:xfrm>
          <a:prstGeom prst="roundRect">
            <a:avLst>
              <a:gd name="adj" fmla="val 16000"/>
            </a:avLst>
          </a:prstGeom>
          <a:solidFill>
            <a:schemeClr val="accent1"/>
          </a:solidFill>
          <a:ln w="12700">
            <a:solidFill>
              <a:schemeClr val="accent1"/>
            </a:solidFill>
            <a:prstDash val="solid"/>
          </a:ln>
        </p:spPr>
      </p:sp>
      <p:sp>
        <p:nvSpPr>
          <p:cNvPr id="16" name="Text 14"/>
          <p:cNvSpPr txBox="1"/>
          <p:nvPr/>
        </p:nvSpPr>
        <p:spPr>
          <a:xfrm>
            <a:off x="6933895" y="4343400"/>
            <a:ext cx="4297680" cy="45720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Pérdida adicional · pasos 2 y 3 de la lámina 12</a:t>
            </a:r>
            <a:endParaRPr lang="en-US" sz="1300" dirty="0"/>
          </a:p>
        </p:txBody>
      </p:sp>
      <p:sp>
        <p:nvSpPr>
          <p:cNvPr id="17" name="Text 15"/>
          <p:cNvSpPr txBox="1"/>
          <p:nvPr/>
        </p:nvSpPr>
        <p:spPr>
          <a:xfrm>
            <a:off x="5669280" y="3108960"/>
            <a:ext cx="853135" cy="822960"/>
          </a:xfrm>
          <a:prstGeom prst="rect">
            <a:avLst/>
          </a:prstGeom>
          <a:noFill/>
          <a:ln/>
        </p:spPr>
        <p:txBody>
          <a:bodyPr wrap="square" lIns="0" tIns="0" rIns="0" bIns="0" rtlCol="0" anchor="ctr"/>
          <a:lstStyle/>
          <a:p>
            <a:pPr algn="ctr" indent="0" marL="0">
              <a:buNone/>
            </a:pPr>
            <a:r>
              <a:rPr lang="en-US" sz="4400" b="1" dirty="0">
                <a:solidFill>
                  <a:schemeClr val="accent2"/>
                </a:solidFill>
                <a:latin typeface="Arial" pitchFamily="34" charset="0"/>
                <a:ea typeface="Arial" pitchFamily="34" charset="-122"/>
                <a:cs typeface="Arial" pitchFamily="34" charset="-120"/>
              </a:rPr>
              <a:t>+</a:t>
            </a:r>
            <a:endParaRPr lang="en-US" sz="4400" dirty="0"/>
          </a:p>
        </p:txBody>
      </p:sp>
      <p:sp>
        <p:nvSpPr>
          <p:cNvPr id="18" name="Resultado escenario"/>
          <p:cNvSpPr/>
          <p:nvPr/>
        </p:nvSpPr>
        <p:spPr>
          <a:xfrm>
            <a:off x="548640" y="5212080"/>
            <a:ext cx="11094415" cy="594360"/>
          </a:xfrm>
          <a:prstGeom prst="roundRect">
            <a:avLst>
              <a:gd name="adj" fmla="val 12308"/>
            </a:avLst>
          </a:prstGeom>
          <a:solidFill>
            <a:schemeClr val="accent2"/>
          </a:solidFill>
          <a:ln w="12700">
            <a:solidFill>
              <a:schemeClr val="accent2"/>
            </a:solidFill>
            <a:prstDash val="solid"/>
          </a:ln>
        </p:spPr>
      </p:sp>
      <p:sp>
        <p:nvSpPr>
          <p:cNvPr id="19" name="Text 17"/>
          <p:cNvSpPr txBox="1"/>
          <p:nvPr/>
        </p:nvSpPr>
        <p:spPr>
          <a:xfrm>
            <a:off x="822960" y="5212080"/>
            <a:ext cx="10545775" cy="59436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PE escenario = 44.0 + 25.6 = 69.6 MM   →   69.6 / 449.2 = 15.5%   (paso 4)</a:t>
            </a:r>
            <a:endParaRPr lang="en-US" sz="1800" dirty="0"/>
          </a:p>
        </p:txBody>
      </p:sp>
      <p:sp>
        <p:nvSpPr>
          <p:cNvPr id="20"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Ejemplo con microfinanzas, escenario severo. EAD = saldo expuesto; PI = pérdida incurrida actual.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Cómo se llega a los resultados de cada segmento</a:t>
            </a:r>
            <a:endParaRPr lang="en-US" sz="3000" dirty="0"/>
          </a:p>
        </p:txBody>
      </p:sp>
      <p:sp>
        <p:nvSpPr>
          <p:cNvPr id="3" name="Cálculo Microfinanzas"/>
          <p:cNvSpPr/>
          <p:nvPr/>
        </p:nvSpPr>
        <p:spPr>
          <a:xfrm>
            <a:off x="548640" y="1325880"/>
            <a:ext cx="3515258" cy="3977640"/>
          </a:xfrm>
          <a:prstGeom prst="roundRect">
            <a:avLst>
              <a:gd name="adj" fmla="val 2081"/>
            </a:avLst>
          </a:prstGeom>
          <a:solidFill>
            <a:schemeClr val="bg2"/>
          </a:solidFill>
          <a:ln w="12700">
            <a:solidFill>
              <a:schemeClr val="bg2"/>
            </a:solidFill>
            <a:prstDash val="solid"/>
          </a:ln>
        </p:spPr>
      </p:sp>
      <p:sp>
        <p:nvSpPr>
          <p:cNvPr id="4" name="Text 2"/>
          <p:cNvSpPr txBox="1"/>
          <p:nvPr/>
        </p:nvSpPr>
        <p:spPr>
          <a:xfrm>
            <a:off x="777240" y="1444752"/>
            <a:ext cx="3058058" cy="64008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Microfinanzas</a:t>
            </a:r>
            <a:endParaRPr lang="en-US" sz="1400" dirty="0"/>
          </a:p>
          <a:p>
            <a:pPr indent="0" marL="0">
              <a:buNone/>
            </a:pPr>
            <a:r>
              <a:rPr lang="en-US" sz="1300" dirty="0">
                <a:solidFill>
                  <a:schemeClr val="accent5"/>
                </a:solidFill>
                <a:latin typeface="Calibri" pitchFamily="34" charset="0"/>
                <a:ea typeface="Calibri" pitchFamily="34" charset="-122"/>
                <a:cs typeface="Calibri" pitchFamily="34" charset="-120"/>
              </a:rPr>
              <a:t>Severo BCE · PI 9.8% → 15.5%</a:t>
            </a:r>
            <a:endParaRPr lang="en-US" sz="1400" dirty="0"/>
          </a:p>
        </p:txBody>
      </p:sp>
      <p:sp>
        <p:nvSpPr>
          <p:cNvPr id="5" name="Número 1"/>
          <p:cNvSpPr/>
          <p:nvPr/>
        </p:nvSpPr>
        <p:spPr>
          <a:xfrm>
            <a:off x="777240" y="2304288"/>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2304288"/>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298448" y="2194560"/>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1 = Saldo × PI (pérdida actual)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449.2 × 9.8% = 44.0</a:t>
            </a:r>
            <a:endParaRPr lang="en-US" sz="1400" dirty="0"/>
          </a:p>
        </p:txBody>
      </p:sp>
      <p:sp>
        <p:nvSpPr>
          <p:cNvPr id="8" name="Número 2"/>
          <p:cNvSpPr/>
          <p:nvPr/>
        </p:nvSpPr>
        <p:spPr>
          <a:xfrm>
            <a:off x="777240" y="3072384"/>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777240" y="3072384"/>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1298448" y="2962656"/>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ΔPI = ΔPD × LGD (lám. 8-9)</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8.06 × 70% ≈ 5.7 pp</a:t>
            </a:r>
            <a:endParaRPr lang="en-US" sz="1400" dirty="0"/>
          </a:p>
        </p:txBody>
      </p:sp>
      <p:sp>
        <p:nvSpPr>
          <p:cNvPr id="11" name="Número 3"/>
          <p:cNvSpPr/>
          <p:nvPr/>
        </p:nvSpPr>
        <p:spPr>
          <a:xfrm>
            <a:off x="777240" y="384048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777240" y="3840480"/>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3" name="Text 11"/>
          <p:cNvSpPr txBox="1"/>
          <p:nvPr/>
        </p:nvSpPr>
        <p:spPr>
          <a:xfrm>
            <a:off x="1298448" y="3730752"/>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2 = Saldo × ΔPI (adicional)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449.2 × 5.7% = 25.6</a:t>
            </a:r>
            <a:endParaRPr lang="en-US" sz="1400" dirty="0"/>
          </a:p>
        </p:txBody>
      </p:sp>
      <p:sp>
        <p:nvSpPr>
          <p:cNvPr id="14" name="Número 4"/>
          <p:cNvSpPr/>
          <p:nvPr/>
        </p:nvSpPr>
        <p:spPr>
          <a:xfrm>
            <a:off x="777240" y="4608576"/>
            <a:ext cx="384048" cy="384048"/>
          </a:xfrm>
          <a:prstGeom prst="ellipse">
            <a:avLst/>
          </a:prstGeom>
          <a:solidFill>
            <a:schemeClr val="accent2"/>
          </a:solidFill>
          <a:ln w="12700">
            <a:solidFill>
              <a:schemeClr val="accent2"/>
            </a:solidFill>
            <a:prstDash val="solid"/>
          </a:ln>
        </p:spPr>
      </p:sp>
      <p:sp>
        <p:nvSpPr>
          <p:cNvPr id="15" name="Text 13"/>
          <p:cNvSpPr txBox="1"/>
          <p:nvPr/>
        </p:nvSpPr>
        <p:spPr>
          <a:xfrm>
            <a:off x="777240" y="4608576"/>
            <a:ext cx="384048" cy="384048"/>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4</a:t>
            </a:r>
            <a:endParaRPr lang="en-US" sz="1800" dirty="0"/>
          </a:p>
        </p:txBody>
      </p:sp>
      <p:sp>
        <p:nvSpPr>
          <p:cNvPr id="16" name="Text 14"/>
          <p:cNvSpPr txBox="1"/>
          <p:nvPr/>
        </p:nvSpPr>
        <p:spPr>
          <a:xfrm>
            <a:off x="1298448" y="4498848"/>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PE escenario = Término 1 + Término 2</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44.0 + 25.6 = 69.6 MM</a:t>
            </a:r>
            <a:endParaRPr lang="en-US" sz="1400" dirty="0"/>
          </a:p>
        </p:txBody>
      </p:sp>
      <p:sp>
        <p:nvSpPr>
          <p:cNvPr id="17" name="Cálculo PYMES"/>
          <p:cNvSpPr/>
          <p:nvPr/>
        </p:nvSpPr>
        <p:spPr>
          <a:xfrm>
            <a:off x="4338218" y="1325880"/>
            <a:ext cx="3515258" cy="3977640"/>
          </a:xfrm>
          <a:prstGeom prst="roundRect">
            <a:avLst>
              <a:gd name="adj" fmla="val 2081"/>
            </a:avLst>
          </a:prstGeom>
          <a:solidFill>
            <a:schemeClr val="bg2"/>
          </a:solidFill>
          <a:ln w="12700">
            <a:solidFill>
              <a:schemeClr val="bg2"/>
            </a:solidFill>
            <a:prstDash val="solid"/>
          </a:ln>
        </p:spPr>
      </p:sp>
      <p:sp>
        <p:nvSpPr>
          <p:cNvPr id="18" name="Text 16"/>
          <p:cNvSpPr txBox="1"/>
          <p:nvPr/>
        </p:nvSpPr>
        <p:spPr>
          <a:xfrm>
            <a:off x="4566818" y="1444752"/>
            <a:ext cx="3058058" cy="64008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PYMES</a:t>
            </a:r>
            <a:endParaRPr lang="en-US" sz="1400" dirty="0"/>
          </a:p>
          <a:p>
            <a:pPr indent="0" marL="0">
              <a:buNone/>
            </a:pPr>
            <a:r>
              <a:rPr lang="en-US" sz="1300" dirty="0">
                <a:solidFill>
                  <a:schemeClr val="accent5"/>
                </a:solidFill>
                <a:latin typeface="Calibri" pitchFamily="34" charset="0"/>
                <a:ea typeface="Calibri" pitchFamily="34" charset="-122"/>
                <a:cs typeface="Calibri" pitchFamily="34" charset="-120"/>
              </a:rPr>
              <a:t>Moderado BCE · PI 6.6% → 8.2%</a:t>
            </a:r>
            <a:endParaRPr lang="en-US" sz="1400" dirty="0"/>
          </a:p>
        </p:txBody>
      </p:sp>
      <p:sp>
        <p:nvSpPr>
          <p:cNvPr id="19" name="Número 1"/>
          <p:cNvSpPr/>
          <p:nvPr/>
        </p:nvSpPr>
        <p:spPr>
          <a:xfrm>
            <a:off x="4566818" y="2304288"/>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4566818" y="2304288"/>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21" name="Text 19"/>
          <p:cNvSpPr txBox="1"/>
          <p:nvPr/>
        </p:nvSpPr>
        <p:spPr>
          <a:xfrm>
            <a:off x="5088026" y="2194560"/>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1 = Saldo × PI (pérdida actual)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334.0 × 6.6% = 22.0</a:t>
            </a:r>
            <a:endParaRPr lang="en-US" sz="1400" dirty="0"/>
          </a:p>
        </p:txBody>
      </p:sp>
      <p:sp>
        <p:nvSpPr>
          <p:cNvPr id="22" name="Número 2"/>
          <p:cNvSpPr/>
          <p:nvPr/>
        </p:nvSpPr>
        <p:spPr>
          <a:xfrm>
            <a:off x="4566818" y="3072384"/>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4566818" y="3072384"/>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24" name="Text 22"/>
          <p:cNvSpPr txBox="1"/>
          <p:nvPr/>
        </p:nvSpPr>
        <p:spPr>
          <a:xfrm>
            <a:off x="5088026" y="2962656"/>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ΔPI = ΔPD × LGD (lám. 8-9)</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4.04 × 40% = 1.62 pp</a:t>
            </a:r>
            <a:endParaRPr lang="en-US" sz="1400" dirty="0"/>
          </a:p>
        </p:txBody>
      </p:sp>
      <p:sp>
        <p:nvSpPr>
          <p:cNvPr id="25" name="Número 3"/>
          <p:cNvSpPr/>
          <p:nvPr/>
        </p:nvSpPr>
        <p:spPr>
          <a:xfrm>
            <a:off x="4566818" y="3840480"/>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4566818" y="3840480"/>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27" name="Text 25"/>
          <p:cNvSpPr txBox="1"/>
          <p:nvPr/>
        </p:nvSpPr>
        <p:spPr>
          <a:xfrm>
            <a:off x="5088026" y="3730752"/>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2 = Saldo × ΔPI (adicional)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334.0 × 1.62% = 5.4</a:t>
            </a:r>
            <a:endParaRPr lang="en-US" sz="1400" dirty="0"/>
          </a:p>
        </p:txBody>
      </p:sp>
      <p:sp>
        <p:nvSpPr>
          <p:cNvPr id="28" name="Número 4"/>
          <p:cNvSpPr/>
          <p:nvPr/>
        </p:nvSpPr>
        <p:spPr>
          <a:xfrm>
            <a:off x="4566818" y="4608576"/>
            <a:ext cx="384048" cy="384048"/>
          </a:xfrm>
          <a:prstGeom prst="ellipse">
            <a:avLst/>
          </a:prstGeom>
          <a:solidFill>
            <a:schemeClr val="accent2"/>
          </a:solidFill>
          <a:ln w="12700">
            <a:solidFill>
              <a:schemeClr val="accent2"/>
            </a:solidFill>
            <a:prstDash val="solid"/>
          </a:ln>
        </p:spPr>
      </p:sp>
      <p:sp>
        <p:nvSpPr>
          <p:cNvPr id="29" name="Text 27"/>
          <p:cNvSpPr txBox="1"/>
          <p:nvPr/>
        </p:nvSpPr>
        <p:spPr>
          <a:xfrm>
            <a:off x="4566818" y="4608576"/>
            <a:ext cx="384048" cy="384048"/>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4</a:t>
            </a:r>
            <a:endParaRPr lang="en-US" sz="1800" dirty="0"/>
          </a:p>
        </p:txBody>
      </p:sp>
      <p:sp>
        <p:nvSpPr>
          <p:cNvPr id="30" name="Text 28"/>
          <p:cNvSpPr txBox="1"/>
          <p:nvPr/>
        </p:nvSpPr>
        <p:spPr>
          <a:xfrm>
            <a:off x="5088026" y="4498848"/>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PE escenario = Término 1 + Término 2</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22.0 + 5.4 = 27.4 MM</a:t>
            </a:r>
            <a:endParaRPr lang="en-US" sz="1400" dirty="0"/>
          </a:p>
        </p:txBody>
      </p:sp>
      <p:sp>
        <p:nvSpPr>
          <p:cNvPr id="31" name="Cálculo Empresas"/>
          <p:cNvSpPr/>
          <p:nvPr/>
        </p:nvSpPr>
        <p:spPr>
          <a:xfrm>
            <a:off x="8127797" y="1325880"/>
            <a:ext cx="3515258" cy="3977640"/>
          </a:xfrm>
          <a:prstGeom prst="roundRect">
            <a:avLst>
              <a:gd name="adj" fmla="val 2081"/>
            </a:avLst>
          </a:prstGeom>
          <a:solidFill>
            <a:schemeClr val="bg2"/>
          </a:solidFill>
          <a:ln w="12700">
            <a:solidFill>
              <a:schemeClr val="bg2"/>
            </a:solidFill>
            <a:prstDash val="solid"/>
          </a:ln>
        </p:spPr>
      </p:sp>
      <p:sp>
        <p:nvSpPr>
          <p:cNvPr id="32" name="Text 30"/>
          <p:cNvSpPr txBox="1"/>
          <p:nvPr/>
        </p:nvSpPr>
        <p:spPr>
          <a:xfrm>
            <a:off x="8356397" y="1444752"/>
            <a:ext cx="3058058" cy="64008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Empresas</a:t>
            </a:r>
            <a:endParaRPr lang="en-US" sz="1400" dirty="0"/>
          </a:p>
          <a:p>
            <a:pPr indent="0" marL="0">
              <a:buNone/>
            </a:pPr>
            <a:r>
              <a:rPr lang="en-US" sz="1300" dirty="0">
                <a:solidFill>
                  <a:schemeClr val="accent5"/>
                </a:solidFill>
                <a:latin typeface="Calibri" pitchFamily="34" charset="0"/>
                <a:ea typeface="Calibri" pitchFamily="34" charset="-122"/>
                <a:cs typeface="Calibri" pitchFamily="34" charset="-120"/>
              </a:rPr>
              <a:t>Factor BCE · PI 1.8% → 2.9%</a:t>
            </a:r>
            <a:endParaRPr lang="en-US" sz="1400" dirty="0"/>
          </a:p>
        </p:txBody>
      </p:sp>
      <p:sp>
        <p:nvSpPr>
          <p:cNvPr id="33" name="Número 1"/>
          <p:cNvSpPr/>
          <p:nvPr/>
        </p:nvSpPr>
        <p:spPr>
          <a:xfrm>
            <a:off x="8356397" y="2304288"/>
            <a:ext cx="384048" cy="384048"/>
          </a:xfrm>
          <a:prstGeom prst="ellipse">
            <a:avLst/>
          </a:prstGeom>
          <a:solidFill>
            <a:schemeClr val="accent1"/>
          </a:solidFill>
          <a:ln w="12700">
            <a:solidFill>
              <a:schemeClr val="accent1"/>
            </a:solidFill>
            <a:prstDash val="solid"/>
          </a:ln>
        </p:spPr>
      </p:sp>
      <p:sp>
        <p:nvSpPr>
          <p:cNvPr id="34" name="Text 32"/>
          <p:cNvSpPr txBox="1"/>
          <p:nvPr/>
        </p:nvSpPr>
        <p:spPr>
          <a:xfrm>
            <a:off x="8356397" y="2304288"/>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35" name="Text 33"/>
          <p:cNvSpPr txBox="1"/>
          <p:nvPr/>
        </p:nvSpPr>
        <p:spPr>
          <a:xfrm>
            <a:off x="8877605" y="2194560"/>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1 = Saldo × PI (pérdida actual)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746.6 × 1.8% = 13.4</a:t>
            </a:r>
            <a:endParaRPr lang="en-US" sz="1400" dirty="0"/>
          </a:p>
        </p:txBody>
      </p:sp>
      <p:sp>
        <p:nvSpPr>
          <p:cNvPr id="36" name="Número 2"/>
          <p:cNvSpPr/>
          <p:nvPr/>
        </p:nvSpPr>
        <p:spPr>
          <a:xfrm>
            <a:off x="8356397" y="3072384"/>
            <a:ext cx="384048" cy="384048"/>
          </a:xfrm>
          <a:prstGeom prst="ellipse">
            <a:avLst/>
          </a:prstGeom>
          <a:solidFill>
            <a:schemeClr val="accent1"/>
          </a:solidFill>
          <a:ln w="12700">
            <a:solidFill>
              <a:schemeClr val="accent1"/>
            </a:solidFill>
            <a:prstDash val="solid"/>
          </a:ln>
        </p:spPr>
      </p:sp>
      <p:sp>
        <p:nvSpPr>
          <p:cNvPr id="37" name="Text 35"/>
          <p:cNvSpPr txBox="1"/>
          <p:nvPr/>
        </p:nvSpPr>
        <p:spPr>
          <a:xfrm>
            <a:off x="8356397" y="3072384"/>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38" name="Text 36"/>
          <p:cNvSpPr txBox="1"/>
          <p:nvPr/>
        </p:nvSpPr>
        <p:spPr>
          <a:xfrm>
            <a:off x="8877605" y="2962656"/>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ΔPI = PI × (factor − 1) (lám. 10)</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1.8% × 0.6 = 1.1 pp</a:t>
            </a:r>
            <a:endParaRPr lang="en-US" sz="1400" dirty="0"/>
          </a:p>
        </p:txBody>
      </p:sp>
      <p:sp>
        <p:nvSpPr>
          <p:cNvPr id="39" name="Número 3"/>
          <p:cNvSpPr/>
          <p:nvPr/>
        </p:nvSpPr>
        <p:spPr>
          <a:xfrm>
            <a:off x="8356397" y="3840480"/>
            <a:ext cx="384048" cy="384048"/>
          </a:xfrm>
          <a:prstGeom prst="ellipse">
            <a:avLst/>
          </a:prstGeom>
          <a:solidFill>
            <a:schemeClr val="accent1"/>
          </a:solidFill>
          <a:ln w="12700">
            <a:solidFill>
              <a:schemeClr val="accent1"/>
            </a:solidFill>
            <a:prstDash val="solid"/>
          </a:ln>
        </p:spPr>
      </p:sp>
      <p:sp>
        <p:nvSpPr>
          <p:cNvPr id="40" name="Text 38"/>
          <p:cNvSpPr txBox="1"/>
          <p:nvPr/>
        </p:nvSpPr>
        <p:spPr>
          <a:xfrm>
            <a:off x="8356397" y="3840480"/>
            <a:ext cx="384048" cy="38404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41" name="Text 39"/>
          <p:cNvSpPr txBox="1"/>
          <p:nvPr/>
        </p:nvSpPr>
        <p:spPr>
          <a:xfrm>
            <a:off x="8877605" y="3730752"/>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Término 2 = Saldo × ΔPI (adicional)</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746.6 × 1.1% = 8.2</a:t>
            </a:r>
            <a:endParaRPr lang="en-US" sz="1400" dirty="0"/>
          </a:p>
        </p:txBody>
      </p:sp>
      <p:sp>
        <p:nvSpPr>
          <p:cNvPr id="42" name="Número 4"/>
          <p:cNvSpPr/>
          <p:nvPr/>
        </p:nvSpPr>
        <p:spPr>
          <a:xfrm>
            <a:off x="8356397" y="4608576"/>
            <a:ext cx="384048" cy="384048"/>
          </a:xfrm>
          <a:prstGeom prst="ellipse">
            <a:avLst/>
          </a:prstGeom>
          <a:solidFill>
            <a:schemeClr val="accent2"/>
          </a:solidFill>
          <a:ln w="12700">
            <a:solidFill>
              <a:schemeClr val="accent2"/>
            </a:solidFill>
            <a:prstDash val="solid"/>
          </a:ln>
        </p:spPr>
      </p:sp>
      <p:sp>
        <p:nvSpPr>
          <p:cNvPr id="43" name="Text 41"/>
          <p:cNvSpPr txBox="1"/>
          <p:nvPr/>
        </p:nvSpPr>
        <p:spPr>
          <a:xfrm>
            <a:off x="8356397" y="4608576"/>
            <a:ext cx="384048" cy="384048"/>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4</a:t>
            </a:r>
            <a:endParaRPr lang="en-US" sz="1800" dirty="0"/>
          </a:p>
        </p:txBody>
      </p:sp>
      <p:sp>
        <p:nvSpPr>
          <p:cNvPr id="44" name="Text 42"/>
          <p:cNvSpPr txBox="1"/>
          <p:nvPr/>
        </p:nvSpPr>
        <p:spPr>
          <a:xfrm>
            <a:off x="8877605" y="4498848"/>
            <a:ext cx="2600858" cy="658368"/>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PE escenario = Término 1 + Término 2</a:t>
            </a:r>
            <a:endParaRPr lang="en-US" sz="1400" dirty="0"/>
          </a:p>
          <a:p>
            <a:pPr indent="0" marL="0">
              <a:buNone/>
            </a:pPr>
            <a:r>
              <a:rPr lang="en-US" sz="1500" b="1" dirty="0">
                <a:solidFill>
                  <a:schemeClr val="accent1"/>
                </a:solidFill>
                <a:latin typeface="Arial" pitchFamily="34" charset="0"/>
                <a:ea typeface="Arial" pitchFamily="34" charset="-122"/>
                <a:cs typeface="Arial" pitchFamily="34" charset="-120"/>
              </a:rPr>
              <a:t>13.4 + 8.2 = 21.6 MM</a:t>
            </a:r>
            <a:endParaRPr lang="en-US" sz="1400" dirty="0"/>
          </a:p>
        </p:txBody>
      </p:sp>
      <p:sp>
        <p:nvSpPr>
          <p:cNvPr id="45" name="Total paso a paso"/>
          <p:cNvSpPr/>
          <p:nvPr/>
        </p:nvSpPr>
        <p:spPr>
          <a:xfrm>
            <a:off x="548640" y="5440680"/>
            <a:ext cx="11094415" cy="502920"/>
          </a:xfrm>
          <a:prstGeom prst="roundRect">
            <a:avLst>
              <a:gd name="adj" fmla="val 14545"/>
            </a:avLst>
          </a:prstGeom>
          <a:solidFill>
            <a:schemeClr val="accent1"/>
          </a:solidFill>
          <a:ln w="12700">
            <a:solidFill>
              <a:schemeClr val="accent1"/>
            </a:solidFill>
            <a:prstDash val="solid"/>
          </a:ln>
        </p:spPr>
      </p:sp>
      <p:sp>
        <p:nvSpPr>
          <p:cNvPr id="46" name="Text 44"/>
          <p:cNvSpPr txBox="1"/>
          <p:nvPr/>
        </p:nvSpPr>
        <p:spPr>
          <a:xfrm>
            <a:off x="822960" y="5440680"/>
            <a:ext cx="10545775" cy="50292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Total: 79.4 + 39.2 = 118.6 MM (7.8% de la cartera expuesta)</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Micro concentra 25.6 de los 39.2 MM adicionales</a:t>
            </a:r>
            <a:endParaRPr lang="en-US" sz="3000" dirty="0"/>
          </a:p>
        </p:txBody>
      </p:sp>
      <p:graphicFrame>
        <p:nvGraphicFramePr>
          <p:cNvPr id="3" name="Gráfico resultados" descr=""/>
          <p:cNvGraphicFramePr/>
          <p:nvPr/>
        </p:nvGraphicFramePr>
        <p:xfrm>
          <a:off x="548640" y="1371600"/>
          <a:ext cx="54864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09360" y="1463040"/>
          <a:ext cx="5330952" cy="914400"/>
        </p:xfrm>
        <a:graphic>
          <a:graphicData uri="http://schemas.openxmlformats.org/drawingml/2006/table">
            <a:tbl>
              <a:tblPr/>
              <a:tblGrid>
                <a:gridCol w="1371600"/>
                <a:gridCol w="1947672"/>
                <a:gridCol w="1051560"/>
                <a:gridCol w="96012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Segmento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Cálculo del adicional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Adicional (MM)</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PI El Niño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Microfinanzas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449.2 × 5.7%</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+25.6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15.5%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PYMES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334.0 × 1.62%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Empresas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746.6 × (2.9% − 1.8%)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2.9%</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+39.2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r>
            </a:tbl>
          </a:graphicData>
        </a:graphic>
      </p:graphicFrame>
      <p:sp>
        <p:nvSpPr>
          <p:cNvPr id="5" name="Total resultados"/>
          <p:cNvSpPr/>
          <p:nvPr/>
        </p:nvSpPr>
        <p:spPr>
          <a:xfrm>
            <a:off x="6309360" y="4297680"/>
            <a:ext cx="5330952" cy="1097280"/>
          </a:xfrm>
          <a:prstGeom prst="roundRect">
            <a:avLst>
              <a:gd name="adj" fmla="val 6667"/>
            </a:avLst>
          </a:prstGeom>
          <a:solidFill>
            <a:schemeClr val="accent1"/>
          </a:solidFill>
          <a:ln w="12700">
            <a:solidFill>
              <a:schemeClr val="accent1"/>
            </a:solidFill>
            <a:prstDash val="solid"/>
          </a:ln>
        </p:spPr>
      </p:sp>
      <p:sp>
        <p:nvSpPr>
          <p:cNvPr id="6" name="Text 2"/>
          <p:cNvSpPr txBox="1"/>
          <p:nvPr/>
        </p:nvSpPr>
        <p:spPr>
          <a:xfrm>
            <a:off x="6583680" y="4297680"/>
            <a:ext cx="4846320" cy="109728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Pérdida de la cartera expuesta: </a:t>
            </a:r>
            <a:pPr indent="0" marL="0">
              <a:buNone/>
            </a:pPr>
            <a:r>
              <a:rPr lang="en-US" sz="1800" b="1" dirty="0">
                <a:solidFill>
                  <a:schemeClr val="bg1"/>
                </a:solidFill>
                <a:latin typeface="Calibri" pitchFamily="34" charset="0"/>
                <a:ea typeface="Calibri" pitchFamily="34" charset="-122"/>
                <a:cs typeface="Calibri" pitchFamily="34" charset="-120"/>
              </a:rPr>
              <a:t>79.4 → 118.6 MM</a:t>
            </a:r>
            <a:endParaRPr lang="en-US" sz="1800" dirty="0"/>
          </a:p>
          <a:p>
            <a:pPr indent="0" marL="0">
              <a:buNone/>
            </a:pPr>
            <a:r>
              <a:rPr lang="en-US" sz="1400" dirty="0">
                <a:solidFill>
                  <a:schemeClr val="bg2"/>
                </a:solidFill>
                <a:latin typeface="Calibri" pitchFamily="34" charset="0"/>
                <a:ea typeface="Calibri" pitchFamily="34" charset="-122"/>
                <a:cs typeface="Calibri" pitchFamily="34" charset="-120"/>
              </a:rPr>
              <a:t>Pérdida El Niño = Pérdida actual + Saldo × ΔPI</a:t>
            </a:r>
            <a:endParaRPr lang="en-US" sz="1800" dirty="0"/>
          </a:p>
        </p:txBody>
      </p:sp>
      <p:sp>
        <p:nvSpPr>
          <p:cNvPr id="7"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Escenario asignado: severo BCE en micro, moderado BCE en PYMES y factor BCE en Empresas.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El escenario asignado queda entre el moderado y el severo</a:t>
            </a:r>
            <a:endParaRPr lang="en-US" sz="3000" dirty="0"/>
          </a:p>
        </p:txBody>
      </p:sp>
      <p:graphicFrame>
        <p:nvGraphicFramePr>
          <p:cNvPr id="3" name="Gráfico escenarios" descr=""/>
          <p:cNvGraphicFramePr/>
          <p:nvPr/>
        </p:nvGraphicFramePr>
        <p:xfrm>
          <a:off x="548640" y="1371600"/>
          <a:ext cx="53949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463040"/>
          <a:ext cx="5422392" cy="914400"/>
        </p:xfrm>
        <a:graphic>
          <a:graphicData uri="http://schemas.openxmlformats.org/drawingml/2006/table">
            <a:tbl>
              <a:tblPr/>
              <a:tblGrid>
                <a:gridCol w="1581912"/>
                <a:gridCol w="914400"/>
                <a:gridCol w="914400"/>
                <a:gridCol w="1005840"/>
                <a:gridCol w="1005840"/>
              </a:tblGrid>
              <a:tr h="50292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Escenario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Micro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PYMES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Empresas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Asignado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+25.6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+39.2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Moderado BCE</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+12.1</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+30.2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Severo BCE</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+25.6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+24.1</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+60.5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Extremo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+47.2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+112.0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bl>
          </a:graphicData>
        </a:graphic>
      </p:graphicFrame>
      <p:sp>
        <p:nvSpPr>
          <p:cNvPr id="5" name="Nota escenarios"/>
          <p:cNvSpPr/>
          <p:nvPr/>
        </p:nvSpPr>
        <p:spPr>
          <a:xfrm>
            <a:off x="6217920" y="4206240"/>
            <a:ext cx="5422392" cy="1188720"/>
          </a:xfrm>
          <a:prstGeom prst="roundRect">
            <a:avLst>
              <a:gd name="adj" fmla="val 6154"/>
            </a:avLst>
          </a:prstGeom>
          <a:solidFill>
            <a:schemeClr val="bg2"/>
          </a:solidFill>
          <a:ln w="12700">
            <a:solidFill>
              <a:schemeClr val="bg2"/>
            </a:solidFill>
            <a:prstDash val="solid"/>
          </a:ln>
        </p:spPr>
      </p:sp>
      <p:sp>
        <p:nvSpPr>
          <p:cNvPr id="6" name="Text 2"/>
          <p:cNvSpPr txBox="1"/>
          <p:nvPr/>
        </p:nvSpPr>
        <p:spPr>
          <a:xfrm>
            <a:off x="6492240" y="4206240"/>
            <a:ext cx="4937760" cy="11887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Moderado ≈ Niño 1997-98 y severo ≈ pandemia (BCE pág. 40). Extremo: supuesto propio, toda la cartera como zona Alta (+15 pp).</a:t>
            </a:r>
            <a:endParaRPr lang="en-US" sz="1400" dirty="0"/>
          </a:p>
        </p:txBody>
      </p:sp>
      <p:sp>
        <p:nvSpPr>
          <p:cNvPr id="7"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En moderado, severo y extremo se aplica el mismo escenario a los tres segmentos, incluida Empresas con puntos fijos.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Cada segmento usa un escenario distinto del BCE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737360"/>
                <a:gridCol w="1691640"/>
                <a:gridCol w="1783080"/>
                <a:gridCol w="1783080"/>
                <a:gridCol w="1783080"/>
                <a:gridCol w="2313432"/>
              </a:tblGrid>
              <a:tr h="53035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Segmento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Pérdida actual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Moderado BCE</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Severo BCE</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Lámina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Equivale a</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53035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Microfinanzas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44.0 (9.8%)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56.7 (12.6%)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69.6 (15.5%)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69.6 (15.5%)</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Severo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3035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PYMES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22.0 (6.6%)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27.4 (8.2%)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32.8 (9.8%)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27.4 (8.2%)</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Moderado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3035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Empresas</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13.4 (1.8%)</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25.5 (3.4%)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37.5 (5.0%)</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21.6 (2.9%)</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Factor (bajo el moderado)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53035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79.4</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109.6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139.9</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118.6</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Entre moderado y severo</a:t>
                      </a:r>
                      <a:endParaRPr lang="en-US" sz="14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2"/>
                    </a:solidFill>
                  </a:tcPr>
                </a:tc>
              </a:tr>
            </a:tbl>
          </a:graphicData>
        </a:graphic>
      </p:graphicFrame>
      <p:sp>
        <p:nvSpPr>
          <p:cNvPr id="4" name="Nota Empresas"/>
          <p:cNvSpPr/>
          <p:nvPr/>
        </p:nvSpPr>
        <p:spPr>
          <a:xfrm>
            <a:off x="548640" y="4343400"/>
            <a:ext cx="5410048" cy="1325880"/>
          </a:xfrm>
          <a:prstGeom prst="roundRect">
            <a:avLst>
              <a:gd name="adj" fmla="val 5517"/>
            </a:avLst>
          </a:prstGeom>
          <a:solidFill>
            <a:schemeClr val="bg2"/>
          </a:solidFill>
          <a:ln w="12700">
            <a:solidFill>
              <a:schemeClr val="bg2"/>
            </a:solidFill>
            <a:prstDash val="solid"/>
          </a:ln>
        </p:spPr>
      </p:sp>
      <p:sp>
        <p:nvSpPr>
          <p:cNvPr id="5" name="Ícono Empresas círculo"/>
          <p:cNvSpPr/>
          <p:nvPr/>
        </p:nvSpPr>
        <p:spPr>
          <a:xfrm>
            <a:off x="777240" y="4636008"/>
            <a:ext cx="731520" cy="731520"/>
          </a:xfrm>
          <a:prstGeom prst="ellipse">
            <a:avLst/>
          </a:prstGeom>
          <a:solidFill>
            <a:schemeClr val="accent2"/>
          </a:solidFill>
          <a:ln w="12700">
            <a:solidFill>
              <a:schemeClr val="accent2"/>
            </a:solidFill>
            <a:prstDash val="solid"/>
          </a:ln>
        </p:spPr>
      </p:sp>
      <p:pic>
        <p:nvPicPr>
          <p:cNvPr id="6" name="Ícono Empresas" descr="preencoded.png">    </p:cNvPr>
          <p:cNvPicPr>
            <a:picLocks noChangeAspect="1"/>
          </p:cNvPicPr>
          <p:nvPr/>
        </p:nvPicPr>
        <p:blipFill>
          <a:blip r:embed="rId1"/>
          <a:stretch>
            <a:fillRect/>
          </a:stretch>
        </p:blipFill>
        <p:spPr>
          <a:xfrm>
            <a:off x="938174" y="4796942"/>
            <a:ext cx="409651" cy="409651"/>
          </a:xfrm>
          <a:prstGeom prst="rect">
            <a:avLst/>
          </a:prstGeom>
        </p:spPr>
      </p:pic>
      <p:sp>
        <p:nvSpPr>
          <p:cNvPr id="7" name="Text 3"/>
          <p:cNvSpPr txBox="1"/>
          <p:nvPr/>
        </p:nvSpPr>
        <p:spPr>
          <a:xfrm>
            <a:off x="1737360" y="4434840"/>
            <a:ext cx="3992728" cy="114300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Empresas: </a:t>
            </a:r>
            <a:pPr indent="0" marL="0">
              <a:buNone/>
            </a:pPr>
            <a:r>
              <a:rPr lang="en-US" sz="1500" dirty="0">
                <a:solidFill>
                  <a:schemeClr val="tx1"/>
                </a:solidFill>
                <a:latin typeface="Calibri" pitchFamily="34" charset="0"/>
                <a:ea typeface="Calibri" pitchFamily="34" charset="-122"/>
                <a:cs typeface="Calibri" pitchFamily="34" charset="-120"/>
              </a:rPr>
              <a:t>Con el factor (21.6 MM) queda incluso por debajo del moderado (25.5 MM).</a:t>
            </a:r>
            <a:endParaRPr lang="en-US" sz="1500" dirty="0"/>
          </a:p>
        </p:txBody>
      </p:sp>
      <p:sp>
        <p:nvSpPr>
          <p:cNvPr id="8" name="Nota PYMES"/>
          <p:cNvSpPr/>
          <p:nvPr/>
        </p:nvSpPr>
        <p:spPr>
          <a:xfrm>
            <a:off x="6233008" y="4343400"/>
            <a:ext cx="5410048" cy="1325880"/>
          </a:xfrm>
          <a:prstGeom prst="roundRect">
            <a:avLst>
              <a:gd name="adj" fmla="val 5517"/>
            </a:avLst>
          </a:prstGeom>
          <a:solidFill>
            <a:schemeClr val="bg2"/>
          </a:solidFill>
          <a:ln w="12700">
            <a:solidFill>
              <a:schemeClr val="bg2"/>
            </a:solidFill>
            <a:prstDash val="solid"/>
          </a:ln>
        </p:spPr>
      </p:sp>
      <p:sp>
        <p:nvSpPr>
          <p:cNvPr id="9" name="Ícono PYMES círculo"/>
          <p:cNvSpPr/>
          <p:nvPr/>
        </p:nvSpPr>
        <p:spPr>
          <a:xfrm>
            <a:off x="6461608" y="4636008"/>
            <a:ext cx="731520" cy="731520"/>
          </a:xfrm>
          <a:prstGeom prst="ellipse">
            <a:avLst/>
          </a:prstGeom>
          <a:solidFill>
            <a:schemeClr val="accent2"/>
          </a:solidFill>
          <a:ln w="12700">
            <a:solidFill>
              <a:schemeClr val="accent2"/>
            </a:solidFill>
            <a:prstDash val="solid"/>
          </a:ln>
        </p:spPr>
      </p:sp>
      <p:pic>
        <p:nvPicPr>
          <p:cNvPr id="10" name="Ícono PYMES" descr="preencoded.png">    </p:cNvPr>
          <p:cNvPicPr>
            <a:picLocks noChangeAspect="1"/>
          </p:cNvPicPr>
          <p:nvPr/>
        </p:nvPicPr>
        <p:blipFill>
          <a:blip r:embed="rId2"/>
          <a:stretch>
            <a:fillRect/>
          </a:stretch>
        </p:blipFill>
        <p:spPr>
          <a:xfrm>
            <a:off x="6622542" y="4796942"/>
            <a:ext cx="409651" cy="409651"/>
          </a:xfrm>
          <a:prstGeom prst="rect">
            <a:avLst/>
          </a:prstGeom>
        </p:spPr>
      </p:pic>
      <p:sp>
        <p:nvSpPr>
          <p:cNvPr id="11" name="Text 6"/>
          <p:cNvSpPr txBox="1"/>
          <p:nvPr/>
        </p:nvSpPr>
        <p:spPr>
          <a:xfrm>
            <a:off x="7421728" y="4434840"/>
            <a:ext cx="3992728" cy="114300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PYMES: </a:t>
            </a:r>
            <a:pPr indent="0" marL="0">
              <a:buNone/>
            </a:pPr>
            <a:r>
              <a:rPr lang="en-US" sz="1500" dirty="0">
                <a:solidFill>
                  <a:schemeClr val="tx1"/>
                </a:solidFill>
                <a:latin typeface="Calibri" pitchFamily="34" charset="0"/>
                <a:ea typeface="Calibri" pitchFamily="34" charset="-122"/>
                <a:cs typeface="Calibri" pitchFamily="34" charset="-120"/>
              </a:rPr>
              <a:t>En moderado es el punto más débil: con severo serían +10.8 MM y el total subiría a 44.6 MM.</a:t>
            </a:r>
            <a:endParaRPr lang="en-US" sz="1500" dirty="0"/>
          </a:p>
        </p:txBody>
      </p:sp>
      <p:sp>
        <p:nvSpPr>
          <p:cNvPr id="12"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Pérdida total en USD MM y PI sobre la cartera expuesta.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Con LGD fija, el resultado tiende a quedarse corto</a:t>
            </a:r>
            <a:endParaRPr lang="en-US" sz="3000" dirty="0"/>
          </a:p>
        </p:txBody>
      </p:sp>
      <p:graphicFrame>
        <p:nvGraphicFramePr>
          <p:cNvPr id="3" name="Gráfico sensibilidad LGD" descr=""/>
          <p:cNvGraphicFramePr/>
          <p:nvPr/>
        </p:nvGraphicFramePr>
        <p:xfrm>
          <a:off x="548640" y="1371600"/>
          <a:ext cx="5394960" cy="4480560"/>
        </p:xfrm>
        <a:graphic xmlns:a="http://schemas.openxmlformats.org/drawingml/2006/main">
          <a:graphicData uri="http://schemas.openxmlformats.org/drawingml/2006/chart">
            <c:chart xmlns:c="http://schemas.openxmlformats.org/drawingml/2006/chart" r:id="rId1"/>
          </a:graphicData>
        </a:graphic>
      </p:graphicFrame>
      <p:sp>
        <p:nvSpPr>
          <p:cNvPr id="4" name="Limitación 1"/>
          <p:cNvSpPr/>
          <p:nvPr/>
        </p:nvSpPr>
        <p:spPr>
          <a:xfrm>
            <a:off x="6217920" y="1417320"/>
            <a:ext cx="5422392" cy="1280160"/>
          </a:xfrm>
          <a:prstGeom prst="roundRect">
            <a:avLst>
              <a:gd name="adj" fmla="val 5714"/>
            </a:avLst>
          </a:prstGeom>
          <a:solidFill>
            <a:schemeClr val="bg2"/>
          </a:solidFill>
          <a:ln w="12700">
            <a:solidFill>
              <a:schemeClr val="bg2"/>
            </a:solidFill>
            <a:prstDash val="solid"/>
          </a:ln>
        </p:spPr>
      </p:sp>
      <p:sp>
        <p:nvSpPr>
          <p:cNvPr id="5" name="Ícono limitación 1 círculo"/>
          <p:cNvSpPr/>
          <p:nvPr/>
        </p:nvSpPr>
        <p:spPr>
          <a:xfrm>
            <a:off x="6446520" y="1691640"/>
            <a:ext cx="731520" cy="731520"/>
          </a:xfrm>
          <a:prstGeom prst="ellipse">
            <a:avLst/>
          </a:prstGeom>
          <a:solidFill>
            <a:schemeClr val="accent1"/>
          </a:solidFill>
          <a:ln w="12700">
            <a:solidFill>
              <a:schemeClr val="accent1"/>
            </a:solidFill>
            <a:prstDash val="solid"/>
          </a:ln>
        </p:spPr>
      </p:sp>
      <p:pic>
        <p:nvPicPr>
          <p:cNvPr id="6" name="Ícono limitación 1" descr="preencoded.png">    </p:cNvPr>
          <p:cNvPicPr>
            <a:picLocks noChangeAspect="1"/>
          </p:cNvPicPr>
          <p:nvPr/>
        </p:nvPicPr>
        <p:blipFill>
          <a:blip r:embed="rId2"/>
          <a:stretch>
            <a:fillRect/>
          </a:stretch>
        </p:blipFill>
        <p:spPr>
          <a:xfrm>
            <a:off x="6607454" y="1852574"/>
            <a:ext cx="409651" cy="409651"/>
          </a:xfrm>
          <a:prstGeom prst="rect">
            <a:avLst/>
          </a:prstGeom>
        </p:spPr>
      </p:pic>
      <p:sp>
        <p:nvSpPr>
          <p:cNvPr id="7" name="Text 3"/>
          <p:cNvSpPr txBox="1"/>
          <p:nvPr/>
        </p:nvSpPr>
        <p:spPr>
          <a:xfrm>
            <a:off x="7406640" y="1527048"/>
            <a:ext cx="4069080" cy="1078992"/>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Hu y Perraudin (2006)</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"recoveries tend to be low when default rates are high" (pág. 15). Correlación de −0.22 desde 1982 (Tabla 5, pág. 22).</a:t>
            </a:r>
            <a:endParaRPr lang="en-US" sz="1500" dirty="0"/>
          </a:p>
        </p:txBody>
      </p:sp>
      <p:sp>
        <p:nvSpPr>
          <p:cNvPr id="8" name="Limitación 2"/>
          <p:cNvSpPr/>
          <p:nvPr/>
        </p:nvSpPr>
        <p:spPr>
          <a:xfrm>
            <a:off x="6217920" y="2880360"/>
            <a:ext cx="5422392" cy="1280160"/>
          </a:xfrm>
          <a:prstGeom prst="roundRect">
            <a:avLst>
              <a:gd name="adj" fmla="val 5714"/>
            </a:avLst>
          </a:prstGeom>
          <a:solidFill>
            <a:schemeClr val="bg2"/>
          </a:solidFill>
          <a:ln w="12700">
            <a:solidFill>
              <a:schemeClr val="bg2"/>
            </a:solidFill>
            <a:prstDash val="solid"/>
          </a:ln>
        </p:spPr>
      </p:sp>
      <p:sp>
        <p:nvSpPr>
          <p:cNvPr id="9" name="Ícono limitación 2 círculo"/>
          <p:cNvSpPr/>
          <p:nvPr/>
        </p:nvSpPr>
        <p:spPr>
          <a:xfrm>
            <a:off x="6446520" y="3154680"/>
            <a:ext cx="731520" cy="731520"/>
          </a:xfrm>
          <a:prstGeom prst="ellipse">
            <a:avLst/>
          </a:prstGeom>
          <a:solidFill>
            <a:schemeClr val="accent1"/>
          </a:solidFill>
          <a:ln w="12700">
            <a:solidFill>
              <a:schemeClr val="accent1"/>
            </a:solidFill>
            <a:prstDash val="solid"/>
          </a:ln>
        </p:spPr>
      </p:sp>
      <p:pic>
        <p:nvPicPr>
          <p:cNvPr id="10" name="Ícono limitación 2" descr="preencoded.png">    </p:cNvPr>
          <p:cNvPicPr>
            <a:picLocks noChangeAspect="1"/>
          </p:cNvPicPr>
          <p:nvPr/>
        </p:nvPicPr>
        <p:blipFill>
          <a:blip r:embed="rId3"/>
          <a:stretch>
            <a:fillRect/>
          </a:stretch>
        </p:blipFill>
        <p:spPr>
          <a:xfrm>
            <a:off x="6607454" y="3315614"/>
            <a:ext cx="409651" cy="409651"/>
          </a:xfrm>
          <a:prstGeom prst="rect">
            <a:avLst/>
          </a:prstGeom>
        </p:spPr>
      </p:pic>
      <p:sp>
        <p:nvSpPr>
          <p:cNvPr id="11" name="Text 6"/>
          <p:cNvSpPr txBox="1"/>
          <p:nvPr/>
        </p:nvSpPr>
        <p:spPr>
          <a:xfrm>
            <a:off x="7406640" y="2990088"/>
            <a:ext cx="4069080" cy="1078992"/>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Moody's (2007), pág. 8</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Las recuperaciones altas de 2006 se explican por buena economía y pocos incumplimientos.</a:t>
            </a:r>
            <a:endParaRPr lang="en-US" sz="1500" dirty="0"/>
          </a:p>
        </p:txBody>
      </p:sp>
      <p:sp>
        <p:nvSpPr>
          <p:cNvPr id="12" name="Limitación 3"/>
          <p:cNvSpPr/>
          <p:nvPr/>
        </p:nvSpPr>
        <p:spPr>
          <a:xfrm>
            <a:off x="6217920" y="4343400"/>
            <a:ext cx="5422392" cy="1280160"/>
          </a:xfrm>
          <a:prstGeom prst="roundRect">
            <a:avLst>
              <a:gd name="adj" fmla="val 5714"/>
            </a:avLst>
          </a:prstGeom>
          <a:solidFill>
            <a:schemeClr val="bg2"/>
          </a:solidFill>
          <a:ln w="12700">
            <a:solidFill>
              <a:schemeClr val="bg2"/>
            </a:solidFill>
            <a:prstDash val="solid"/>
          </a:ln>
        </p:spPr>
      </p:sp>
      <p:sp>
        <p:nvSpPr>
          <p:cNvPr id="13" name="Ícono limitación 3 círculo"/>
          <p:cNvSpPr/>
          <p:nvPr/>
        </p:nvSpPr>
        <p:spPr>
          <a:xfrm>
            <a:off x="6446520" y="4617720"/>
            <a:ext cx="731520" cy="731520"/>
          </a:xfrm>
          <a:prstGeom prst="ellipse">
            <a:avLst/>
          </a:prstGeom>
          <a:solidFill>
            <a:schemeClr val="accent2"/>
          </a:solidFill>
          <a:ln w="12700">
            <a:solidFill>
              <a:schemeClr val="accent2"/>
            </a:solidFill>
            <a:prstDash val="solid"/>
          </a:ln>
        </p:spPr>
      </p:sp>
      <p:pic>
        <p:nvPicPr>
          <p:cNvPr id="14" name="Ícono limitación 3" descr="preencoded.png">    </p:cNvPr>
          <p:cNvPicPr>
            <a:picLocks noChangeAspect="1"/>
          </p:cNvPicPr>
          <p:nvPr/>
        </p:nvPicPr>
        <p:blipFill>
          <a:blip r:embed="rId4"/>
          <a:stretch>
            <a:fillRect/>
          </a:stretch>
        </p:blipFill>
        <p:spPr>
          <a:xfrm>
            <a:off x="6607454" y="4778654"/>
            <a:ext cx="409651" cy="409651"/>
          </a:xfrm>
          <a:prstGeom prst="rect">
            <a:avLst/>
          </a:prstGeom>
        </p:spPr>
      </p:pic>
      <p:sp>
        <p:nvSpPr>
          <p:cNvPr id="15" name="Text 9"/>
          <p:cNvSpPr txBox="1"/>
          <p:nvPr/>
        </p:nvSpPr>
        <p:spPr>
          <a:xfrm>
            <a:off x="7406640" y="4453128"/>
            <a:ext cx="4069080" cy="1078992"/>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Otros supuestos</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Mezcla de zonas del sistema · PI de agosto = julio · Resultado rotulado como "pérdida estimada bajo estrés".</a:t>
            </a:r>
            <a:endParaRPr lang="en-US" sz="1500" dirty="0"/>
          </a:p>
        </p:txBody>
      </p:sp>
      <p:sp>
        <p:nvSpPr>
          <p:cNvPr id="16"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Micro, escenario severo: PD implícita 9.8% / 70% = 14.0%; PD en estrés 22.1%. Con LGD de 80%, la pérdida sería 17.7% (+10 MM).</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Próximos pasos</a:t>
            </a:r>
            <a:endParaRPr lang="en-US" sz="3600" dirty="0"/>
          </a:p>
        </p:txBody>
      </p:sp>
      <p:sp>
        <p:nvSpPr>
          <p:cNvPr id="3" name="Paso 1"/>
          <p:cNvSpPr/>
          <p:nvPr/>
        </p:nvSpPr>
        <p:spPr>
          <a:xfrm>
            <a:off x="548640" y="1554480"/>
            <a:ext cx="5410048" cy="1737360"/>
          </a:xfrm>
          <a:prstGeom prst="roundRect">
            <a:avLst>
              <a:gd name="adj" fmla="val 4211"/>
            </a:avLst>
          </a:prstGeom>
          <a:solidFill>
            <a:srgbClr val="22397A"/>
          </a:solidFill>
          <a:ln w="12700">
            <a:solidFill>
              <a:srgbClr val="22397A"/>
            </a:solidFill>
            <a:prstDash val="solid"/>
          </a:ln>
        </p:spPr>
      </p:sp>
      <p:sp>
        <p:nvSpPr>
          <p:cNvPr id="4" name="Número 1"/>
          <p:cNvSpPr/>
          <p:nvPr/>
        </p:nvSpPr>
        <p:spPr>
          <a:xfrm>
            <a:off x="822960" y="1874520"/>
            <a:ext cx="685800" cy="685800"/>
          </a:xfrm>
          <a:prstGeom prst="ellipse">
            <a:avLst/>
          </a:prstGeom>
          <a:solidFill>
            <a:schemeClr val="accent2"/>
          </a:solidFill>
          <a:ln w="12700">
            <a:solidFill>
              <a:schemeClr val="accent2"/>
            </a:solidFill>
            <a:prstDash val="solid"/>
          </a:ln>
        </p:spPr>
      </p:sp>
      <p:sp>
        <p:nvSpPr>
          <p:cNvPr id="5" name="Text 3"/>
          <p:cNvSpPr txBox="1"/>
          <p:nvPr/>
        </p:nvSpPr>
        <p:spPr>
          <a:xfrm>
            <a:off x="822960" y="187452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737360" y="1828800"/>
            <a:ext cx="3947008" cy="45720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Confirmar la zona</a:t>
            </a:r>
            <a:endParaRPr lang="en-US" sz="1900" dirty="0"/>
          </a:p>
        </p:txBody>
      </p:sp>
      <p:sp>
        <p:nvSpPr>
          <p:cNvPr id="7" name="Text 5"/>
          <p:cNvSpPr txBox="1"/>
          <p:nvPr/>
        </p:nvSpPr>
        <p:spPr>
          <a:xfrm>
            <a:off x="1737360" y="2331720"/>
            <a:ext cx="3947008" cy="8686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Micro subió 24% y PYMES 19% de julio a agosto: validar la definición de la zona expuesta.</a:t>
            </a:r>
            <a:endParaRPr lang="en-US" sz="1500" dirty="0"/>
          </a:p>
        </p:txBody>
      </p:sp>
      <p:sp>
        <p:nvSpPr>
          <p:cNvPr id="8" name="Paso 2"/>
          <p:cNvSpPr/>
          <p:nvPr/>
        </p:nvSpPr>
        <p:spPr>
          <a:xfrm>
            <a:off x="6233008" y="1554480"/>
            <a:ext cx="5410048" cy="1737360"/>
          </a:xfrm>
          <a:prstGeom prst="roundRect">
            <a:avLst>
              <a:gd name="adj" fmla="val 4211"/>
            </a:avLst>
          </a:prstGeom>
          <a:solidFill>
            <a:srgbClr val="22397A"/>
          </a:solidFill>
          <a:ln w="12700">
            <a:solidFill>
              <a:srgbClr val="22397A"/>
            </a:solidFill>
            <a:prstDash val="solid"/>
          </a:ln>
        </p:spPr>
      </p:sp>
      <p:sp>
        <p:nvSpPr>
          <p:cNvPr id="9" name="Número 2"/>
          <p:cNvSpPr/>
          <p:nvPr/>
        </p:nvSpPr>
        <p:spPr>
          <a:xfrm>
            <a:off x="6507328" y="1874520"/>
            <a:ext cx="685800" cy="685800"/>
          </a:xfrm>
          <a:prstGeom prst="ellipse">
            <a:avLst/>
          </a:prstGeom>
          <a:solidFill>
            <a:schemeClr val="accent2"/>
          </a:solidFill>
          <a:ln w="12700">
            <a:solidFill>
              <a:schemeClr val="accent2"/>
            </a:solidFill>
            <a:prstDash val="solid"/>
          </a:ln>
        </p:spPr>
      </p:sp>
      <p:sp>
        <p:nvSpPr>
          <p:cNvPr id="10" name="Text 8"/>
          <p:cNvSpPr txBox="1"/>
          <p:nvPr/>
        </p:nvSpPr>
        <p:spPr>
          <a:xfrm>
            <a:off x="6507328" y="187452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7421728" y="1828800"/>
            <a:ext cx="3947008" cy="45720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Mezcla propia</a:t>
            </a:r>
            <a:endParaRPr lang="en-US" sz="1900" dirty="0"/>
          </a:p>
        </p:txBody>
      </p:sp>
      <p:sp>
        <p:nvSpPr>
          <p:cNvPr id="12" name="Text 10"/>
          <p:cNvSpPr txBox="1"/>
          <p:nvPr/>
        </p:nvSpPr>
        <p:spPr>
          <a:xfrm>
            <a:off x="7421728" y="2331720"/>
            <a:ext cx="3947008" cy="8686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Cruzar las parroquias con el mapa del BCE (Figura 5) para usar pesos Alto, Medio y Bajo propios.</a:t>
            </a:r>
            <a:endParaRPr lang="en-US" sz="1500" dirty="0"/>
          </a:p>
        </p:txBody>
      </p:sp>
      <p:sp>
        <p:nvSpPr>
          <p:cNvPr id="13" name="Paso 3"/>
          <p:cNvSpPr/>
          <p:nvPr/>
        </p:nvSpPr>
        <p:spPr>
          <a:xfrm>
            <a:off x="548640" y="3520440"/>
            <a:ext cx="5410048" cy="1737360"/>
          </a:xfrm>
          <a:prstGeom prst="roundRect">
            <a:avLst>
              <a:gd name="adj" fmla="val 4211"/>
            </a:avLst>
          </a:prstGeom>
          <a:solidFill>
            <a:srgbClr val="22397A"/>
          </a:solidFill>
          <a:ln w="12700">
            <a:solidFill>
              <a:srgbClr val="22397A"/>
            </a:solidFill>
            <a:prstDash val="solid"/>
          </a:ln>
        </p:spPr>
      </p:sp>
      <p:sp>
        <p:nvSpPr>
          <p:cNvPr id="14" name="Número 3"/>
          <p:cNvSpPr/>
          <p:nvPr/>
        </p:nvSpPr>
        <p:spPr>
          <a:xfrm>
            <a:off x="822960" y="384048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822960" y="384048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6" name="Text 14"/>
          <p:cNvSpPr txBox="1"/>
          <p:nvPr/>
        </p:nvSpPr>
        <p:spPr>
          <a:xfrm>
            <a:off x="1737360" y="3794760"/>
            <a:ext cx="3947008" cy="45720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LGD internas</a:t>
            </a:r>
            <a:endParaRPr lang="en-US" sz="1900" dirty="0"/>
          </a:p>
        </p:txBody>
      </p:sp>
      <p:sp>
        <p:nvSpPr>
          <p:cNvPr id="17" name="Text 15"/>
          <p:cNvSpPr txBox="1"/>
          <p:nvPr/>
        </p:nvSpPr>
        <p:spPr>
          <a:xfrm>
            <a:off x="1737360" y="4297680"/>
            <a:ext cx="3947008" cy="8686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Validar las LGD: con 40%, PYMES implica una PD de 16.5%, mayor que micro.</a:t>
            </a:r>
            <a:endParaRPr lang="en-US" sz="1500" dirty="0"/>
          </a:p>
        </p:txBody>
      </p:sp>
      <p:sp>
        <p:nvSpPr>
          <p:cNvPr id="18" name="Paso 4"/>
          <p:cNvSpPr/>
          <p:nvPr/>
        </p:nvSpPr>
        <p:spPr>
          <a:xfrm>
            <a:off x="6233008" y="3520440"/>
            <a:ext cx="5410048" cy="1737360"/>
          </a:xfrm>
          <a:prstGeom prst="roundRect">
            <a:avLst>
              <a:gd name="adj" fmla="val 4211"/>
            </a:avLst>
          </a:prstGeom>
          <a:solidFill>
            <a:srgbClr val="22397A"/>
          </a:solidFill>
          <a:ln w="12700">
            <a:solidFill>
              <a:srgbClr val="22397A"/>
            </a:solidFill>
            <a:prstDash val="solid"/>
          </a:ln>
        </p:spPr>
      </p:sp>
      <p:sp>
        <p:nvSpPr>
          <p:cNvPr id="19" name="Número 4"/>
          <p:cNvSpPr/>
          <p:nvPr/>
        </p:nvSpPr>
        <p:spPr>
          <a:xfrm>
            <a:off x="6507328" y="3840480"/>
            <a:ext cx="685800" cy="685800"/>
          </a:xfrm>
          <a:prstGeom prst="ellipse">
            <a:avLst/>
          </a:prstGeom>
          <a:solidFill>
            <a:schemeClr val="accent2"/>
          </a:solidFill>
          <a:ln w="12700">
            <a:solidFill>
              <a:schemeClr val="accent2"/>
            </a:solidFill>
            <a:prstDash val="solid"/>
          </a:ln>
        </p:spPr>
      </p:sp>
      <p:sp>
        <p:nvSpPr>
          <p:cNvPr id="20" name="Text 18"/>
          <p:cNvSpPr txBox="1"/>
          <p:nvPr/>
        </p:nvSpPr>
        <p:spPr>
          <a:xfrm>
            <a:off x="6507328" y="384048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Arial" pitchFamily="34" charset="0"/>
                <a:ea typeface="Arial" pitchFamily="34" charset="-122"/>
                <a:cs typeface="Arial" pitchFamily="34" charset="-120"/>
              </a:rPr>
              <a:t>4</a:t>
            </a:r>
            <a:endParaRPr lang="en-US" sz="1800" dirty="0"/>
          </a:p>
        </p:txBody>
      </p:sp>
      <p:sp>
        <p:nvSpPr>
          <p:cNvPr id="21" name="Text 19"/>
          <p:cNvSpPr txBox="1"/>
          <p:nvPr/>
        </p:nvSpPr>
        <p:spPr>
          <a:xfrm>
            <a:off x="7421728" y="3794760"/>
            <a:ext cx="3947008" cy="45720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Monitoreo mensual</a:t>
            </a:r>
            <a:endParaRPr lang="en-US" sz="1900" dirty="0"/>
          </a:p>
        </p:txBody>
      </p:sp>
      <p:sp>
        <p:nvSpPr>
          <p:cNvPr id="22" name="Text 20"/>
          <p:cNvSpPr txBox="1"/>
          <p:nvPr/>
        </p:nvSpPr>
        <p:spPr>
          <a:xfrm>
            <a:off x="7421728" y="4297680"/>
            <a:ext cx="3947008" cy="868680"/>
          </a:xfrm>
          <a:prstGeom prst="rect">
            <a:avLst/>
          </a:prstGeom>
          <a:noFill/>
          <a:ln/>
        </p:spPr>
        <p:txBody>
          <a:bodyPr wrap="square" lIns="0" tIns="0" rIns="0" bIns="0" rtlCol="0" anchor="t"/>
          <a:lstStyle/>
          <a:p>
            <a:pPr indent="0" marL="0">
              <a:buNone/>
            </a:pPr>
            <a:r>
              <a:rPr lang="en-US" sz="1500" dirty="0">
                <a:solidFill>
                  <a:schemeClr val="bg2"/>
                </a:solidFill>
                <a:latin typeface="Calibri" pitchFamily="34" charset="0"/>
                <a:ea typeface="Calibri" pitchFamily="34" charset="-122"/>
                <a:cs typeface="Calibri" pitchFamily="34" charset="-120"/>
              </a:rPr>
              <a:t>Seguir la mora por zona y actualizar con cada boletín ERFEN. Los diferimientos retrasan la mora, no la pérdida.</a:t>
            </a:r>
            <a:endParaRPr lang="en-US" sz="1500" dirty="0"/>
          </a:p>
        </p:txBody>
      </p:sp>
      <p:sp>
        <p:nvSpPr>
          <p:cNvPr id="23" name="Text 21"/>
          <p:cNvSpPr txBox="1"/>
          <p:nvPr/>
        </p:nvSpPr>
        <p:spPr>
          <a:xfrm>
            <a:off x="548640" y="5715000"/>
            <a:ext cx="11094415" cy="411480"/>
          </a:xfrm>
          <a:prstGeom prst="rect">
            <a:avLst/>
          </a:prstGeom>
          <a:noFill/>
          <a:ln/>
        </p:spPr>
        <p:txBody>
          <a:bodyPr wrap="square" lIns="0" tIns="0" rIns="0" bIns="0" rtlCol="0" anchor="ctr"/>
          <a:lstStyle/>
          <a:p>
            <a:pPr indent="0" marL="0">
              <a:buNone/>
            </a:pPr>
            <a:r>
              <a:rPr lang="en-US" sz="1500" i="1" dirty="0">
                <a:solidFill>
                  <a:schemeClr val="accent6"/>
                </a:solidFill>
                <a:latin typeface="Calibri" pitchFamily="34" charset="0"/>
                <a:ea typeface="Calibri" pitchFamily="34" charset="-122"/>
                <a:cs typeface="Calibri" pitchFamily="34" charset="-120"/>
              </a:rPr>
              <a:t>El BCE estima que un Niño fuerte restaría 1.4 puntos al crecimiento del PIB de 2027.</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b="1" dirty="0">
                <a:solidFill>
                  <a:schemeClr val="accent1"/>
                </a:solidFill>
                <a:latin typeface="Arial" pitchFamily="34" charset="0"/>
                <a:ea typeface="Arial" pitchFamily="34" charset="-122"/>
                <a:cs typeface="Arial" pitchFamily="34" charset="-120"/>
              </a:rPr>
              <a:t>Anexo: fuentes y páginas citadas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023360"/>
                <a:gridCol w="2743200"/>
                <a:gridCol w="4325112"/>
              </a:tblGrid>
              <a:tr h="393192">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Fuente</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Ubicación</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Qué respalda</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accent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 Apuntes de Economía No. 75</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Págs. 35-36</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Fórmula PE = PD × EAD × LGD (Basilea III)</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 39, Tabla 9</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Shocks de PD por zona; la LGD "se mantiene igual"</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 23</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Pesos por zona: 3,830 / 4,940 / 11,804 MM</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 37</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LGD: 70% micro, 40% productivo</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 49, Tabla 15</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Factor de Empresas: 1,230 / 791</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BCE (2024)</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Págs. 8, 9-10, 11, 31, 40</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Intensidad, Niño 1997-98, zona, rezago y escenarios</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Moody's (2007), Default and Recovery Rates 1920-2006</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Págs. 45, 9 y 8</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Tasa de pérdida = PD × LGD; recuperación cíclica</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Hu y Perraudin (2006), Research Paper 6/1</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Págs. 3, 11, 4, 1, 15 y Tabla 5</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 = D × (1 − R); LGD sube en crisis</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NIIF 9, ejemplos ilustrativos</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Ejemplo 9 (IE53)</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Pérdida esperada con tasa de pérdida</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r h="393192">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Vasicek (2002); BCBS (2005), nota IRB</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Modelo de un factor (Basilea IRB)</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La PD en estrés depende de la PD base: factor de Empresas</a:t>
                      </a:r>
                      <a:endParaRPr lang="en-US" sz="1300" dirty="0">
                        <a:latin typeface="Calibri" charset="0"/>
                        <a:ea typeface="Calibri" charset="0"/>
                        <a:cs typeface="Calibri" charset="0"/>
                      </a:endParaRPr>
                    </a:p>
                  </a:txBody>
                  <a:tcPr marL="73152" marR="73152" marT="36576" marB="36576" anchor="ctr">
                    <a:lnL w="9525" cap="flat" cmpd="sng" algn="ctr">
                      <a:solidFill>
                        <a:srgbClr val="C9CED8"/>
                      </a:solidFill>
                      <a:prstDash val="solid"/>
                      <a:round/>
                      <a:headEnd type="none" w="med" len="med"/>
                      <a:tailEnd type="none" w="med" len="med"/>
                    </a:lnL>
                    <a:lnR w="9525" cap="flat" cmpd="sng" algn="ctr">
                      <a:solidFill>
                        <a:srgbClr val="C9CED8"/>
                      </a:solidFill>
                      <a:prstDash val="solid"/>
                      <a:round/>
                      <a:headEnd type="none" w="med" len="med"/>
                      <a:tailEnd type="none" w="med" len="med"/>
                    </a:lnR>
                    <a:lnT w="9525" cap="flat" cmpd="sng" algn="ctr">
                      <a:solidFill>
                        <a:srgbClr val="C9CED8"/>
                      </a:solidFill>
                      <a:prstDash val="solid"/>
                      <a:round/>
                      <a:headEnd type="none" w="med" len="med"/>
                      <a:tailEnd type="none" w="med" len="med"/>
                    </a:lnT>
                    <a:lnB w="9525" cap="flat" cmpd="sng" algn="ctr">
                      <a:solidFill>
                        <a:srgbClr val="C9CED8"/>
                      </a:solidFill>
                      <a:prstDash val="solid"/>
                      <a:round/>
                      <a:headEnd type="none" w="med" len="med"/>
                      <a:tailEnd type="none" w="med" len="med"/>
                    </a:lnB>
                    <a:solidFill>
                      <a:schemeClr val="bg1"/>
                    </a:solidFill>
                  </a:tcPr>
                </a:tc>
              </a:tr>
            </a:tbl>
          </a:graphicData>
        </a:graphic>
      </p:graphicFrame>
      <p:sp>
        <p:nvSpPr>
          <p:cNvPr id="4" name="Fuente"/>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i="1" dirty="0">
                <a:solidFill>
                  <a:schemeClr val="accent5"/>
                </a:solidFill>
                <a:latin typeface="Calibri" pitchFamily="34" charset="0"/>
                <a:ea typeface="Calibri" pitchFamily="34" charset="-122"/>
                <a:cs typeface="Calibri" pitchFamily="34" charset="-120"/>
              </a:rPr>
              <a:t>Contexto 2026: SNGR (Resolución SNGR-238-2026), Informe CN-ERFEN 009-2026 y Programación Macroeconómica del BCE (septiembre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iesgo El Nino">
  <a:themeElements>
    <a:clrScheme name="Riesgo El Nino">
      <a:dk1>
        <a:srgbClr val="1B2340"/>
      </a:dk1>
      <a:lt1>
        <a:srgbClr val="FFFFFF"/>
      </a:lt1>
      <a:dk2>
        <a:srgbClr val="14285A"/>
      </a:dk2>
      <a:lt2>
        <a:srgbClr val="EEF1F7"/>
      </a:lt2>
      <a:accent1>
        <a:srgbClr val="14285A"/>
      </a:accent1>
      <a:accent2>
        <a:srgbClr val="E8A317"/>
      </a:accent2>
      <a:accent3>
        <a:srgbClr val="2E86AB"/>
      </a:accent3>
      <a:accent4>
        <a:srgbClr val="C0392B"/>
      </a:accent4>
      <a:accent5>
        <a:srgbClr val="6B7785"/>
      </a:accent5>
      <a:accent6>
        <a:srgbClr val="F4D35E"/>
      </a:accent6>
      <a:hlink>
        <a:srgbClr val="2E86AB"/>
      </a:hlink>
      <a:folHlink>
        <a:srgbClr val="6B7785"/>
      </a:folHlink>
    </a:clrScheme>
    <a:fontScheme name="Riesgo El Nin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Pérdida incurrida por el Fenómeno de El Niño</dc:title>
  <dc:subject>PptxGenJS Presentation</dc:subject>
  <dc:creator>PptxGenJS</dc:creator>
  <cp:lastModifiedBy>PptxGenJS</cp:lastModifiedBy>
  <cp:revision>1</cp:revision>
  <dcterms:created xsi:type="dcterms:W3CDTF">2026-10-06T04:39:10Z</dcterms:created>
  <dcterms:modified xsi:type="dcterms:W3CDTF">2026-10-06T04:39:10Z</dcterms:modified>
</cp:coreProperties>
</file>